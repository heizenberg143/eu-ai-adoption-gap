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d55272e4ba49b2" /><Relationship Type="http://schemas.openxmlformats.org/officeDocument/2006/relationships/extended-properties" Target="/docProps/app.xml" Id="Re279bfd6910e4c0e" /><Relationship Type="http://schemas.openxmlformats.org/officeDocument/2006/relationships/officeDocument" Target="/ppt/presentation.xml" Id="R21b1f7ecbe8841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c52eac588e4ea2"/>
  </p:sldMasterIdLst>
  <p:notesMasterIdLst>
    <p:notesMasterId xmlns:r="http://schemas.openxmlformats.org/officeDocument/2006/relationships" r:id="R74a8a673a67747e0"/>
  </p:notesMasterIdLst>
  <p:sldIdLst>
    <p:sldId xmlns:r="http://schemas.openxmlformats.org/officeDocument/2006/relationships" id="256" r:id="Rc83ae7e57fce4557"/>
    <p:sldId xmlns:r="http://schemas.openxmlformats.org/officeDocument/2006/relationships" id="257" r:id="R72c2b5eac9344ed4"/>
    <p:sldId xmlns:r="http://schemas.openxmlformats.org/officeDocument/2006/relationships" id="258" r:id="R59010beccaf342e2"/>
    <p:sldId xmlns:r="http://schemas.openxmlformats.org/officeDocument/2006/relationships" id="259" r:id="R5240a96336394535"/>
    <p:sldId xmlns:r="http://schemas.openxmlformats.org/officeDocument/2006/relationships" id="260" r:id="Ref04c17f45714c62"/>
    <p:sldId xmlns:r="http://schemas.openxmlformats.org/officeDocument/2006/relationships" id="261" r:id="R191543a19c30406d"/>
    <p:sldId xmlns:r="http://schemas.openxmlformats.org/officeDocument/2006/relationships" id="262" r:id="Rbb508a4f695b4848"/>
    <p:sldId xmlns:r="http://schemas.openxmlformats.org/officeDocument/2006/relationships" id="263" r:id="Re9f47f8549ae47bd"/>
    <p:sldId xmlns:r="http://schemas.openxmlformats.org/officeDocument/2006/relationships" id="264" r:id="R6cfaf231b8f54e48"/>
    <p:sldId xmlns:r="http://schemas.openxmlformats.org/officeDocument/2006/relationships" id="265" r:id="Rf06dc33f58b84e64"/>
    <p:sldId xmlns:r="http://schemas.openxmlformats.org/officeDocument/2006/relationships" id="266" r:id="R6f15592f24d841df"/>
    <p:sldId xmlns:r="http://schemas.openxmlformats.org/officeDocument/2006/relationships" id="267" r:id="R3c3f06a82b7a45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174b6adb2e4215" /><Relationship Type="http://schemas.openxmlformats.org/officeDocument/2006/relationships/slideMaster" Target="/ppt/slideMasters/slideMaster1.xml" Id="R11c52eac588e4ea2" /><Relationship Type="http://schemas.openxmlformats.org/officeDocument/2006/relationships/notesMaster" Target="/ppt/notesMasters/notesMaster1.xml" Id="R74a8a673a67747e0" /><Relationship Type="http://schemas.openxmlformats.org/officeDocument/2006/relationships/presProps" Target="/ppt/presProps.xml" Id="Rc9706ab504c9425f" /><Relationship Type="http://schemas.openxmlformats.org/officeDocument/2006/relationships/tableStyles" Target="/ppt/tableStyles.xml" Id="Rbca5c6e3a098437b" /><Relationship Type="http://schemas.openxmlformats.org/officeDocument/2006/relationships/slide" Target="/ppt/slides/slide1.xml" Id="Rc83ae7e57fce4557" /><Relationship Type="http://schemas.openxmlformats.org/officeDocument/2006/relationships/slide" Target="/ppt/slides/slide2.xml" Id="R72c2b5eac9344ed4" /><Relationship Type="http://schemas.openxmlformats.org/officeDocument/2006/relationships/slide" Target="/ppt/slides/slide3.xml" Id="R59010beccaf342e2" /><Relationship Type="http://schemas.openxmlformats.org/officeDocument/2006/relationships/slide" Target="/ppt/slides/slide4.xml" Id="R5240a96336394535" /><Relationship Type="http://schemas.openxmlformats.org/officeDocument/2006/relationships/slide" Target="/ppt/slides/slide5.xml" Id="Ref04c17f45714c62" /><Relationship Type="http://schemas.openxmlformats.org/officeDocument/2006/relationships/slide" Target="/ppt/slides/slide6.xml" Id="R191543a19c30406d" /><Relationship Type="http://schemas.openxmlformats.org/officeDocument/2006/relationships/slide" Target="/ppt/slides/slide7.xml" Id="Rbb508a4f695b4848" /><Relationship Type="http://schemas.openxmlformats.org/officeDocument/2006/relationships/slide" Target="/ppt/slides/slide8.xml" Id="Re9f47f8549ae47bd" /><Relationship Type="http://schemas.openxmlformats.org/officeDocument/2006/relationships/slide" Target="/ppt/slides/slide9.xml" Id="R6cfaf231b8f54e48" /><Relationship Type="http://schemas.openxmlformats.org/officeDocument/2006/relationships/slide" Target="/ppt/slides/slide10.xml" Id="Rf06dc33f58b84e64" /><Relationship Type="http://schemas.openxmlformats.org/officeDocument/2006/relationships/slide" Target="/ppt/slides/slide11.xml" Id="R6f15592f24d841df" /><Relationship Type="http://schemas.openxmlformats.org/officeDocument/2006/relationships/slide" Target="/ppt/slides/slide12.xml" Id="R3c3f06a82b7a45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45c1fd309e49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c74bf165104855" /><Relationship Type="http://schemas.openxmlformats.org/officeDocument/2006/relationships/notesMaster" Target="/ppt/notesMasters/notesMaster1.xml" Id="R0300eaa7525f48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e49e271f2f426b" /><Relationship Type="http://schemas.openxmlformats.org/officeDocument/2006/relationships/notesMaster" Target="/ppt/notesMasters/notesMaster1.xml" Id="R50853e4b505d4a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e7c724659c4940" /><Relationship Type="http://schemas.openxmlformats.org/officeDocument/2006/relationships/notesMaster" Target="/ppt/notesMasters/notesMaster1.xml" Id="R9e9249edc35048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6837f605f54d22" /><Relationship Type="http://schemas.openxmlformats.org/officeDocument/2006/relationships/notesMaster" Target="/ppt/notesMasters/notesMaster1.xml" Id="Rd98700684ba744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ca1aa0818546e7" /><Relationship Type="http://schemas.openxmlformats.org/officeDocument/2006/relationships/notesMaster" Target="/ppt/notesMasters/notesMaster1.xml" Id="Rb7475edfa2fb43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ee990932d94df4" /><Relationship Type="http://schemas.openxmlformats.org/officeDocument/2006/relationships/notesMaster" Target="/ppt/notesMasters/notesMaster1.xml" Id="R4fe6477812c541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816eb2d5be4ed2" /><Relationship Type="http://schemas.openxmlformats.org/officeDocument/2006/relationships/notesMaster" Target="/ppt/notesMasters/notesMaster1.xml" Id="R7d45d380518e4e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4531a6c73e4efa" /><Relationship Type="http://schemas.openxmlformats.org/officeDocument/2006/relationships/notesMaster" Target="/ppt/notesMasters/notesMaster1.xml" Id="Re1e0fe1f27c44a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15878d3e3e4c85" /><Relationship Type="http://schemas.openxmlformats.org/officeDocument/2006/relationships/notesMaster" Target="/ppt/notesMasters/notesMaster1.xml" Id="R5e57077b767b4d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a735a2c29b42b7" /><Relationship Type="http://schemas.openxmlformats.org/officeDocument/2006/relationships/notesMaster" Target="/ppt/notesMasters/notesMaster1.xml" Id="R5d07cdc3b90841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ffa90300a94981" /><Relationship Type="http://schemas.openxmlformats.org/officeDocument/2006/relationships/notesMaster" Target="/ppt/notesMasters/notesMaster1.xml" Id="R98c7436d80f64b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72f7a88ab34c2a" /><Relationship Type="http://schemas.openxmlformats.org/officeDocument/2006/relationships/notesMaster" Target="/ppt/notesMasters/notesMaster1.xml" Id="Rcdbfa5e0d16546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central tension: adoption is accelerating, but the gains are not converging.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https://ec.europa.eu/eurostat/databrowser/view/isoc_eb_ai/default/table?lang=en</a:t>
            </a:r>
          </a:p>
          <a:p xmlns:a="http://schemas.openxmlformats.org/drawingml/2006/main">
            <a:r>
              <a:t>- https://ec.europa.eu/eurostat/databrowser/view/isoc_eb_ain2/default/table?lang=en</a:t>
            </a:r>
          </a:p>
          <a:p xmlns:a="http://schemas.openxmlformats.org/drawingml/2006/main">
            <a:r>
              <a:t>- https://ec.europa.eu/eurostat/statistics-explained/index.php?title=Use_of_artificial_intelligence_in_enterprises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every chart is tied to a multi-dimensional analytical question rather than preliminary description.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https://ec.europa.eu/eurostat/databrowser/view/isoc_eb_ai/default/table?lang=en</a:t>
            </a:r>
          </a:p>
          <a:p xmlns:a="http://schemas.openxmlformats.org/drawingml/2006/main">
            <a:r>
              <a:t>- https://ec.europa.eu/eurostat/databrowser/view/isoc_eb_ain2/default/table?lang=en</a:t>
            </a:r>
          </a:p>
          <a:p xmlns:a="http://schemas.openxmlformats.org/drawingml/2006/main">
            <a:r>
              <a:t>- https://ec.europa.eu/eurostat/statistics-explained/index.php?title=Use_of_artificial_intelligence_in_enterprises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metrics to preview the full argument before showing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https://ec.europa.eu/eurostat/databrowser/view/isoc_eb_ai/default/table?lang=en</a:t>
            </a:r>
          </a:p>
          <a:p xmlns:a="http://schemas.openxmlformats.org/drawingml/2006/main">
            <a:r>
              <a:t>- https://ec.europa.eu/eurostat/databrowser/view/isoc_eb_ain2/default/table?lang=en</a:t>
            </a:r>
          </a:p>
          <a:p xmlns:a="http://schemas.openxmlformats.org/drawingml/2006/main">
            <a:r>
              <a:t>- https://ec.europa.eu/eurostat/statistics-explained/index.php?title=Use_of_artificial_intelligence_in_enterprises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https://ec.europa.eu/eurostat/databrowser/view/isoc_eb_ai/default/table?lang=en</a:t>
            </a:r>
          </a:p>
          <a:p xmlns:a="http://schemas.openxmlformats.org/drawingml/2006/main">
            <a:r>
              <a:t>- https://ec.europa.eu/eurostat/databrowser/view/isoc_eb_ain2/default/table?lang=en</a:t>
            </a:r>
          </a:p>
          <a:p xmlns:a="http://schemas.openxmlformats.org/drawingml/2006/main">
            <a:r>
              <a:t>- https://ec.europa.eu/eurostat/statistics-explained/index.php?title=Use_of_artificial_intelligence_in_enterprises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https://ec.europa.eu/eurostat/databrowser/view/isoc_eb_ai/default/table?lang=en</a:t>
            </a:r>
          </a:p>
          <a:p xmlns:a="http://schemas.openxmlformats.org/drawingml/2006/main">
            <a:r>
              <a:t>- https://ec.europa.eu/eurostat/databrowser/view/isoc_eb_ain2/default/table?lang=en</a:t>
            </a:r>
          </a:p>
          <a:p xmlns:a="http://schemas.openxmlformats.org/drawingml/2006/main">
            <a:r>
              <a:t>- https://ec.europa.eu/eurostat/statistics-explained/index.php?title=Use_of_artificial_intelligence_in_enterprises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https://ec.europa.eu/eurostat/databrowser/view/isoc_eb_ai/default/table?lang=en</a:t>
            </a:r>
          </a:p>
          <a:p xmlns:a="http://schemas.openxmlformats.org/drawingml/2006/main">
            <a:r>
              <a:t>- https://ec.europa.eu/eurostat/databrowser/view/isoc_eb_ain2/default/table?lang=en</a:t>
            </a:r>
          </a:p>
          <a:p xmlns:a="http://schemas.openxmlformats.org/drawingml/2006/main">
            <a:r>
              <a:t>- https://ec.europa.eu/eurostat/statistics-explained/index.php?title=Use_of_artificial_intelligence_in_enterprises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https://ec.europa.eu/eurostat/databrowser/view/isoc_eb_ai/default/table?lang=en</a:t>
            </a:r>
          </a:p>
          <a:p xmlns:a="http://schemas.openxmlformats.org/drawingml/2006/main">
            <a:r>
              <a:t>- https://ec.europa.eu/eurostat/databrowser/view/isoc_eb_ain2/default/table?lang=en</a:t>
            </a:r>
          </a:p>
          <a:p xmlns:a="http://schemas.openxmlformats.org/drawingml/2006/main">
            <a:r>
              <a:t>- https://ec.europa.eu/eurostat/statistics-explained/index.php?title=Use_of_artificial_intelligence_in_enterprises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https://ec.europa.eu/eurostat/databrowser/view/isoc_eb_ai/default/table?lang=en</a:t>
            </a:r>
          </a:p>
          <a:p xmlns:a="http://schemas.openxmlformats.org/drawingml/2006/main">
            <a:r>
              <a:t>- https://ec.europa.eu/eurostat/databrowser/view/isoc_eb_ain2/default/table?lang=en</a:t>
            </a:r>
          </a:p>
          <a:p xmlns:a="http://schemas.openxmlformats.org/drawingml/2006/main">
            <a:r>
              <a:t>- https://ec.europa.eu/eurostat/statistics-explained/index.php?title=Use_of_artificial_intelligence_in_enterprises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https://ec.europa.eu/eurostat/databrowser/view/isoc_eb_ai/default/table?lang=en</a:t>
            </a:r>
          </a:p>
          <a:p xmlns:a="http://schemas.openxmlformats.org/drawingml/2006/main">
            <a:r>
              <a:t>- https://ec.europa.eu/eurostat/databrowser/view/isoc_eb_ain2/default/table?lang=en</a:t>
            </a:r>
          </a:p>
          <a:p xmlns:a="http://schemas.openxmlformats.org/drawingml/2006/main">
            <a:r>
              <a:t>- https://ec.europa.eu/eurostat/statistics-explained/index.php?title=Use_of_artificial_intelligence_in_enterprises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https://ec.europa.eu/eurostat/databrowser/view/isoc_eb_ai/default/table?lang=en</a:t>
            </a:r>
          </a:p>
          <a:p xmlns:a="http://schemas.openxmlformats.org/drawingml/2006/main">
            <a:r>
              <a:t>- https://ec.europa.eu/eurostat/databrowser/view/isoc_eb_ain2/default/table?lang=en</a:t>
            </a:r>
          </a:p>
          <a:p xmlns:a="http://schemas.openxmlformats.org/drawingml/2006/main">
            <a:r>
              <a:t>- https://ec.europa.eu/eurostat/statistics-explained/index.php?title=Use_of_artificial_intelligence_in_enterprises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dashboard is deployed publicly and the link shown on this slide was verified on 25 July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https://ec.europa.eu/eurostat/databrowser/view/isoc_eb_ai/default/table?lang=en</a:t>
            </a:r>
          </a:p>
          <a:p xmlns:a="http://schemas.openxmlformats.org/drawingml/2006/main">
            <a:r>
              <a:t>- https://ec.europa.eu/eurostat/databrowser/view/isoc_eb_ain2/default/table?lang=en</a:t>
            </a:r>
          </a:p>
          <a:p xmlns:a="http://schemas.openxmlformats.org/drawingml/2006/main">
            <a:r>
              <a:t>- https://ec.europa.eu/eurostat/statistics-explained/index.php?title=Use_of_artificial_intelligence_in_enterprises</a:t>
            </a:r>
          </a:p>
          <a:p xmlns:a="http://schemas.openxmlformats.org/drawingml/2006/main">
            <a:r>
              <a:t>- https://usaid-eu-ai-adoption-gap.streamlit.app/ (dashboard screenshots, captured 25 July 2026)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tension: faster adoption alone will not close the capability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https://ec.europa.eu/eurostat/databrowser/view/isoc_eb_ai/default/table?lang=en</a:t>
            </a:r>
          </a:p>
          <a:p xmlns:a="http://schemas.openxmlformats.org/drawingml/2006/main">
            <a:r>
              <a:t>- https://ec.europa.eu/eurostat/databrowser/view/isoc_eb_ain2/default/table?lang=en</a:t>
            </a:r>
          </a:p>
          <a:p xmlns:a="http://schemas.openxmlformats.org/drawingml/2006/main">
            <a:r>
              <a:t>- https://ec.europa.eu/eurostat/statistics-explained/index.php?title=Use_of_artificial_intelligence_in_enterprises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b5f03ee4d40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7646e3cea945a2" /><Relationship Type="http://schemas.openxmlformats.org/officeDocument/2006/relationships/slideLayout" Target="/ppt/slideLayouts/slideLayout1.xml" Id="Rf87efc04661548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7efc04661548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8d851696f4376" /><Relationship Type="http://schemas.openxmlformats.org/officeDocument/2006/relationships/image" Target="/ppt/media/image.png" Id="Rc0248f6d1f9845f7" /><Relationship Type="http://schemas.openxmlformats.org/officeDocument/2006/relationships/notesSlide" Target="/ppt/notesSlides/notesSlide1.xml" Id="R98eafdbc99ec4e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d3f1fc6d54e25" /><Relationship Type="http://schemas.openxmlformats.org/officeDocument/2006/relationships/notesSlide" Target="/ppt/notesSlides/notesSlide2.xml" Id="Rfeac49e7c41d43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4d43665f747da" /><Relationship Type="http://schemas.openxmlformats.org/officeDocument/2006/relationships/notesSlide" Target="/ppt/notesSlides/notesSlide3.xml" Id="R65030116686341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cb52695024663" /><Relationship Type="http://schemas.openxmlformats.org/officeDocument/2006/relationships/image" Target="/ppt/media/image2.png" Id="R3a4debed2a3c4231" /><Relationship Type="http://schemas.openxmlformats.org/officeDocument/2006/relationships/notesSlide" Target="/ppt/notesSlides/notesSlide4.xml" Id="Ra6453d9b12944f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9bf2569934207" /><Relationship Type="http://schemas.openxmlformats.org/officeDocument/2006/relationships/image" Target="/ppt/media/image3.png" Id="Rc2f7d70fb69a429d" /><Relationship Type="http://schemas.openxmlformats.org/officeDocument/2006/relationships/notesSlide" Target="/ppt/notesSlides/notesSlide5.xml" Id="R3610a7fb9ccb4d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c57bb361b467d" /><Relationship Type="http://schemas.openxmlformats.org/officeDocument/2006/relationships/image" Target="/ppt/media/image4.png" Id="R712c747a4fd74ba9" /><Relationship Type="http://schemas.openxmlformats.org/officeDocument/2006/relationships/notesSlide" Target="/ppt/notesSlides/notesSlide6.xml" Id="R4f50d629affb49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80f8deeb44907" /><Relationship Type="http://schemas.openxmlformats.org/officeDocument/2006/relationships/image" Target="/ppt/media/image5.png" Id="Rd902fb1896c3472c" /><Relationship Type="http://schemas.openxmlformats.org/officeDocument/2006/relationships/notesSlide" Target="/ppt/notesSlides/notesSlide7.xml" Id="R8a4135b9609444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86d09107c4386" /><Relationship Type="http://schemas.openxmlformats.org/officeDocument/2006/relationships/image" Target="/ppt/media/image6.png" Id="R92cb86fff5194415" /><Relationship Type="http://schemas.openxmlformats.org/officeDocument/2006/relationships/notesSlide" Target="/ppt/notesSlides/notesSlide8.xml" Id="Ra48791fbf37a44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8799caff34dcc" /><Relationship Type="http://schemas.openxmlformats.org/officeDocument/2006/relationships/image" Target="/ppt/media/image7.png" Id="Rfa19fc2ab4854f34" /><Relationship Type="http://schemas.openxmlformats.org/officeDocument/2006/relationships/notesSlide" Target="/ppt/notesSlides/notesSlide9.xml" Id="R6180c011c74c4b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9698107eb4a88" /><Relationship Type="http://schemas.openxmlformats.org/officeDocument/2006/relationships/image" Target="/ppt/media/image8.png" Id="R6223d9f887f74a06" /><Relationship Type="http://schemas.openxmlformats.org/officeDocument/2006/relationships/notesSlide" Target="/ppt/notesSlides/notesSlide10.xml" Id="Rdca16f39020d40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20f55be7941bf" /><Relationship Type="http://schemas.openxmlformats.org/officeDocument/2006/relationships/image" Target="/ppt/media/image.jpeg" Id="R8b5b913bec65442a" /><Relationship Type="http://schemas.openxmlformats.org/officeDocument/2006/relationships/image" Target="/ppt/media/image2.jpeg" Id="R23be1f91e123402f" /><Relationship Type="http://schemas.openxmlformats.org/officeDocument/2006/relationships/notesSlide" Target="/ppt/notesSlides/notesSlide11.xml" Id="R2728ca2086b242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2fbdcb4fd4d0d" /><Relationship Type="http://schemas.openxmlformats.org/officeDocument/2006/relationships/notesSlide" Target="/ppt/notesSlides/notesSlide12.xml" Id="R68aa371126f44b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16081EE-FF0B-4F97-815C-FE483963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AABA391-7276-4C18-9923-77BAAD43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DATA VISUALIZATION - SUMMER 2026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AED497BE-4E8E-4B0F-8590-2C84979C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0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48f6d1f9845f7"/>
          <a:stretch xmlns:a="http://schemas.openxmlformats.org/drawingml/2006/main"/>
        </p:blipFill>
        <p:spPr>
          <a:xfrm xmlns:a="http://schemas.openxmlformats.org/drawingml/2006/main">
            <a:off x="6269069" y="1997170"/>
            <a:ext cx="5539740" cy="240055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E311D77D-FCEB-4FEE-98AF-60EE550D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Europe's AI
Adoption Gap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Who is pulling ahead, where smaller firms fall behind, and what stops businesses from adopting AI?
Usaid Aamer</a:t>
            </a:r>
          </a:p>
        </p:txBody>
      </p:sp>
    </p:spTree>
    <p:extLst>
      <p:ext uri="{BB962C8B-B14F-4D97-AF65-F5344CB8AC3E}">
        <p14:creationId xmlns:p14="http://schemas.microsoft.com/office/powerpoint/2010/main" val="1233310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822FC001-7E46-4EA8-A9C3-B1572006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539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The analysis follows one question through four layers</a:t>
            </a:r>
          </a:p>
        </p:txBody>
      </p:sp>
      <p:sp>
        <p:nvSpPr>
          <p:cNvPr id="2" name="central-question">
            <a:extLst xmlns:a="http://schemas.openxmlformats.org/drawingml/2006/main">
              <a:ext uri="{FF2B5EF4-FFF2-40B4-BE49-F238E27FC236}">
                <a16:creationId xmlns:a16="http://schemas.microsoft.com/office/drawing/2014/main" id="{96827DE7-C65B-408C-BE77-0D8C1F1B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519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Can rapid AI adoption close Europe's business capability gap?</a:t>
            </a:r>
          </a:p>
        </p:txBody>
      </p:sp>
      <p:sp>
        <p:nvSpPr>
          <p:cNvPr id="3" name="data-scope">
            <a:extLst xmlns:a="http://schemas.openxmlformats.org/drawingml/2006/main">
              <a:ext uri="{FF2B5EF4-FFF2-40B4-BE49-F238E27FC236}">
                <a16:creationId xmlns:a16="http://schemas.microsoft.com/office/drawing/2014/main" id="{0A237911-ED4E-4BA8-8B28-CEE0747D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Official Eurostat survey data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27 EU countries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2023-2025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43,881 curated observations</a:t>
            </a:r>
          </a:p>
        </p:txBody>
      </p:sp>
      <p:sp>
        <p:nvSpPr>
          <p:cNvPr id="4" name="layer-number-01">
            <a:extLst xmlns:a="http://schemas.openxmlformats.org/drawingml/2006/main">
              <a:ext uri="{FF2B5EF4-FFF2-40B4-BE49-F238E27FC236}">
                <a16:creationId xmlns:a16="http://schemas.microsoft.com/office/drawing/2014/main" id="{5AF40B2D-7101-4BD1-AF2F-8D669AE6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layer-label-01">
            <a:extLst xmlns:a="http://schemas.openxmlformats.org/drawingml/2006/main">
              <a:ext uri="{FF2B5EF4-FFF2-40B4-BE49-F238E27FC236}">
                <a16:creationId xmlns:a16="http://schemas.microsoft.com/office/drawing/2014/main" id="{BF6EAF76-35F6-42DF-8110-78919B96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3430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Pace</a:t>
            </a:r>
          </a:p>
        </p:txBody>
      </p:sp>
      <p:sp>
        <p:nvSpPr>
          <p:cNvPr id="6" name="layer-question-01">
            <a:extLst xmlns:a="http://schemas.openxmlformats.org/drawingml/2006/main">
              <a:ext uri="{FF2B5EF4-FFF2-40B4-BE49-F238E27FC236}">
                <a16:creationId xmlns:a16="http://schemas.microsoft.com/office/drawing/2014/main" id="{9F240A80-738E-4600-A997-D6AB927C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430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How fast is adoption growing?</a:t>
            </a:r>
          </a:p>
        </p:txBody>
      </p:sp>
      <p:sp>
        <p:nvSpPr>
          <p:cNvPr id="7" name="layer-number-02">
            <a:extLst xmlns:a="http://schemas.openxmlformats.org/drawingml/2006/main">
              <a:ext uri="{FF2B5EF4-FFF2-40B4-BE49-F238E27FC236}">
                <a16:creationId xmlns:a16="http://schemas.microsoft.com/office/drawing/2014/main" id="{3507E10F-36A1-4796-869D-CACCEA43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8127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layer-label-02">
            <a:extLst xmlns:a="http://schemas.openxmlformats.org/drawingml/2006/main">
              <a:ext uri="{FF2B5EF4-FFF2-40B4-BE49-F238E27FC236}">
                <a16:creationId xmlns:a16="http://schemas.microsoft.com/office/drawing/2014/main" id="{46995FE9-DE34-4AC1-B978-0E55D1EA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431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Divide</a:t>
            </a:r>
          </a:p>
        </p:txBody>
      </p:sp>
      <p:sp>
        <p:nvSpPr>
          <p:cNvPr id="9" name="layer-question-02">
            <a:extLst xmlns:a="http://schemas.openxmlformats.org/drawingml/2006/main">
              <a:ext uri="{FF2B5EF4-FFF2-40B4-BE49-F238E27FC236}">
                <a16:creationId xmlns:a16="http://schemas.microsoft.com/office/drawing/2014/main" id="{791618ED-CE7D-46CF-B9C4-E3495B8C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432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Who is being left behind?</a:t>
            </a:r>
          </a:p>
        </p:txBody>
      </p:sp>
      <p:sp>
        <p:nvSpPr>
          <p:cNvPr id="10" name="layer-number-03">
            <a:extLst xmlns:a="http://schemas.openxmlformats.org/drawingml/2006/main">
              <a:ext uri="{FF2B5EF4-FFF2-40B4-BE49-F238E27FC236}">
                <a16:creationId xmlns:a16="http://schemas.microsoft.com/office/drawing/2014/main" id="{53879FC9-425D-4E56-B516-D49E9464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814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layer-label-03">
            <a:extLst xmlns:a="http://schemas.openxmlformats.org/drawingml/2006/main">
              <a:ext uri="{FF2B5EF4-FFF2-40B4-BE49-F238E27FC236}">
                <a16:creationId xmlns:a16="http://schemas.microsoft.com/office/drawing/2014/main" id="{D087B8FE-3DC8-40C9-A42C-ADFC3361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433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Depth</a:t>
            </a:r>
          </a:p>
        </p:txBody>
      </p:sp>
      <p:sp>
        <p:nvSpPr>
          <p:cNvPr id="12" name="layer-question-03">
            <a:extLst xmlns:a="http://schemas.openxmlformats.org/drawingml/2006/main">
              <a:ext uri="{FF2B5EF4-FFF2-40B4-BE49-F238E27FC236}">
                <a16:creationId xmlns:a16="http://schemas.microsoft.com/office/drawing/2014/main" id="{4E4D61B6-0399-4405-8AFF-6B2CB28F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433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Are firms using one tool or a stack?</a:t>
            </a:r>
          </a:p>
        </p:txBody>
      </p:sp>
      <p:sp>
        <p:nvSpPr>
          <p:cNvPr id="13" name="layer-number-04">
            <a:extLst xmlns:a="http://schemas.openxmlformats.org/drawingml/2006/main">
              <a:ext uri="{FF2B5EF4-FFF2-40B4-BE49-F238E27FC236}">
                <a16:creationId xmlns:a16="http://schemas.microsoft.com/office/drawing/2014/main" id="{F18B7950-EF15-44C3-8019-1786F599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8157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layer-label-04">
            <a:extLst xmlns:a="http://schemas.openxmlformats.org/drawingml/2006/main">
              <a:ext uri="{FF2B5EF4-FFF2-40B4-BE49-F238E27FC236}">
                <a16:creationId xmlns:a16="http://schemas.microsoft.com/office/drawing/2014/main" id="{0EC6C937-DB18-496B-9456-6DD54D9F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Blockers</a:t>
            </a:r>
          </a:p>
        </p:txBody>
      </p:sp>
      <p:sp>
        <p:nvSpPr>
          <p:cNvPr id="15" name="layer-question-04">
            <a:extLst xmlns:a="http://schemas.openxmlformats.org/drawingml/2006/main">
              <a:ext uri="{FF2B5EF4-FFF2-40B4-BE49-F238E27FC236}">
                <a16:creationId xmlns:a16="http://schemas.microsoft.com/office/drawing/2014/main" id="{6EFF06B3-EA61-40E5-AB0D-502DD07F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435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What prevents interested firms from adopting?</a:t>
            </a:r>
          </a:p>
        </p:txBody>
      </p:sp>
      <p:sp>
        <p:nvSpPr>
          <p:cNvPr id="16" name="source-2">
            <a:extLst xmlns:a="http://schemas.openxmlformats.org/drawingml/2006/main">
              <a:ext uri="{FF2B5EF4-FFF2-40B4-BE49-F238E27FC236}">
                <a16:creationId xmlns:a16="http://schemas.microsoft.com/office/drawing/2014/main" id="{21472809-0501-4A49-8204-81E309CB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Eurostat tables: isoc_eb_ai and isoc_eb_ain2</a:t>
            </a:r>
          </a:p>
        </p:txBody>
      </p:sp>
      <p:sp>
        <p:nvSpPr>
          <p:cNvPr id="17" name="page-2">
            <a:extLst xmlns:a="http://schemas.openxmlformats.org/drawingml/2006/main">
              <a:ext uri="{FF2B5EF4-FFF2-40B4-BE49-F238E27FC236}">
                <a16:creationId xmlns:a16="http://schemas.microsoft.com/office/drawing/2014/main" id="{566ADE0C-8758-4FD3-8002-37378AB5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036544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3CA6E47B-B656-4AEE-A814-29CF2753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7A6DB741-6650-4C70-A71A-F1E2FF3B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7A5CCC56-DF75-4EED-84E7-DFAE75B3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92C30CC-0547-4039-9021-74926154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B0B7A866-A0DD-4078-B236-C2C3C321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The story in three numbers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FD50CF3-4E97-40C7-8770-886C3C32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EU firms using AI in 2025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C3CC339-B129-43A0-B291-F0FE9340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Interested non-users citing skills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196E76AD-93BF-4248-97FB-DCE00BE6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Large-small adoption gap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37D7C151-1793-4EC8-86CF-8D0848AA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20.0%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0DF0004C-0BEF-4015-9A16-E07D3431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38 pp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E8493A3-5E70-4020-B7E8-F7D6F9D3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E69F00"/>
                </a:solidFill>
                <a:latin typeface="Arial"/>
                <a:ea typeface="Arial"/>
                <a:cs typeface="Arial"/>
              </a:rPr>
              <a:t>70.3%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82D0FD7-6CBE-4A94-AA58-25F156D9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The central pattern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EU enterprise AI adoption hit 20% in 2025. But national, firm-size, and capability gaps remain wide.</a:t>
            </a:r>
          </a:p>
        </p:txBody>
      </p:sp>
    </p:spTree>
    <p:extLst>
      <p:ext uri="{BB962C8B-B14F-4D97-AF65-F5344CB8AC3E}">
        <p14:creationId xmlns:p14="http://schemas.microsoft.com/office/powerpoint/2010/main" val="15933802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AA2464BE-14D3-4F06-B09C-C70B26F3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2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AI adoption surged, but large firms still lead by 38 points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debed2a3c4231"/>
          <a:stretch xmlns:a="http://schemas.openxmlformats.org/drawingml/2006/main"/>
        </p:blipFill>
        <p:spPr>
          <a:xfrm xmlns:a="http://schemas.openxmlformats.org/drawingml/2006/main" flipH="0" flipV="0">
            <a:off x="400050" y="1993900"/>
            <a:ext cx="7810500" cy="3384550"/>
          </a:xfrm>
          <a:prstGeom xmlns:a="http://schemas.openxmlformats.org/drawingml/2006/main" prst="rect">
            <a:avLst/>
          </a:prstGeom>
        </p:spPr>
      </p:pic>
      <p:sp>
        <p:nvSpPr>
          <p:cNvPr id="3" name="rail-header-4">
            <a:extLst xmlns:a="http://schemas.openxmlformats.org/drawingml/2006/main">
              <a:ext uri="{FF2B5EF4-FFF2-40B4-BE49-F238E27FC236}">
                <a16:creationId xmlns:a16="http://schemas.microsoft.com/office/drawing/2014/main" id="{EA631D5D-92FE-44F9-A62E-51F881DD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What the chart means</a:t>
            </a:r>
          </a:p>
        </p:txBody>
      </p:sp>
      <p:sp>
        <p:nvSpPr>
          <p:cNvPr id="4" name="stat-4-218">
            <a:extLst xmlns:a="http://schemas.openxmlformats.org/drawingml/2006/main">
              <a:ext uri="{FF2B5EF4-FFF2-40B4-BE49-F238E27FC236}">
                <a16:creationId xmlns:a16="http://schemas.microsoft.com/office/drawing/2014/main" id="{07DD4642-D7E0-47C4-9119-81A79988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764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55.0%</a:t>
            </a:r>
          </a:p>
        </p:txBody>
      </p:sp>
      <p:sp>
        <p:nvSpPr>
          <p:cNvPr id="5" name="stat-label-4-218">
            <a:extLst xmlns:a="http://schemas.openxmlformats.org/drawingml/2006/main">
              <a:ext uri="{FF2B5EF4-FFF2-40B4-BE49-F238E27FC236}">
                <a16:creationId xmlns:a16="http://schemas.microsoft.com/office/drawing/2014/main" id="{86C0D7A2-CFF7-4D2D-AC63-BD2FD136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051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Large firms using AI</a:t>
            </a:r>
          </a:p>
        </p:txBody>
      </p:sp>
      <p:sp>
        <p:nvSpPr>
          <p:cNvPr id="6" name="stat-4-360">
            <a:extLst xmlns:a="http://schemas.openxmlformats.org/drawingml/2006/main">
              <a:ext uri="{FF2B5EF4-FFF2-40B4-BE49-F238E27FC236}">
                <a16:creationId xmlns:a16="http://schemas.microsoft.com/office/drawing/2014/main" id="{905A7148-65FB-48CA-89CF-B8AAD5D3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17.0%</a:t>
            </a:r>
          </a:p>
        </p:txBody>
      </p:sp>
      <p:sp>
        <p:nvSpPr>
          <p:cNvPr id="7" name="stat-label-4-360">
            <a:extLst xmlns:a="http://schemas.openxmlformats.org/drawingml/2006/main">
              <a:ext uri="{FF2B5EF4-FFF2-40B4-BE49-F238E27FC236}">
                <a16:creationId xmlns:a16="http://schemas.microsoft.com/office/drawing/2014/main" id="{B38D201C-6364-46C9-914C-D3530A55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576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Small firms using AI</a:t>
            </a:r>
          </a:p>
        </p:txBody>
      </p:sp>
      <p:sp>
        <p:nvSpPr>
          <p:cNvPr id="8" name="takeaway-4">
            <a:extLst xmlns:a="http://schemas.openxmlformats.org/drawingml/2006/main">
              <a:ext uri="{FF2B5EF4-FFF2-40B4-BE49-F238E27FC236}">
                <a16:creationId xmlns:a16="http://schemas.microsoft.com/office/drawing/2014/main" id="{195A324B-48A9-44D8-8D15-FFB2E4C1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5775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Growth is broad, but it is not equal.</a:t>
            </a:r>
          </a:p>
        </p:txBody>
      </p:sp>
      <p:sp>
        <p:nvSpPr>
          <p:cNvPr id="9" name="source-4">
            <a:extLst xmlns:a="http://schemas.openxmlformats.org/drawingml/2006/main">
              <a:ext uri="{FF2B5EF4-FFF2-40B4-BE49-F238E27FC236}">
                <a16:creationId xmlns:a16="http://schemas.microsoft.com/office/drawing/2014/main" id="{8BA20C2E-6DC2-4562-B33C-CA4B9577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Eurostat - enterprise ICT survey, 2023-2025</a:t>
            </a:r>
          </a:p>
        </p:txBody>
      </p:sp>
      <p:sp>
        <p:nvSpPr>
          <p:cNvPr id="10" name="page-4">
            <a:extLst xmlns:a="http://schemas.openxmlformats.org/drawingml/2006/main">
              <a:ext uri="{FF2B5EF4-FFF2-40B4-BE49-F238E27FC236}">
                <a16:creationId xmlns:a16="http://schemas.microsoft.com/office/drawing/2014/main" id="{34E2B289-5452-4246-A380-B8A00095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8805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A8CF4CCD-06E5-4F8A-8F33-FF9D8893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684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Rapid growth has not closed the 37-point country divide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7d70fb69a429d"/>
          <a:stretch xmlns:a="http://schemas.openxmlformats.org/drawingml/2006/main"/>
        </p:blipFill>
        <p:spPr>
          <a:xfrm xmlns:a="http://schemas.openxmlformats.org/drawingml/2006/main">
            <a:off x="400050" y="1993900"/>
            <a:ext cx="7810500" cy="3384550"/>
          </a:xfrm>
          <a:prstGeom xmlns:a="http://schemas.openxmlformats.org/drawingml/2006/main" prst="rect">
            <a:avLst/>
          </a:prstGeom>
        </p:spPr>
      </p:pic>
      <p:sp>
        <p:nvSpPr>
          <p:cNvPr id="3" name="rail-header-5">
            <a:extLst xmlns:a="http://schemas.openxmlformats.org/drawingml/2006/main">
              <a:ext uri="{FF2B5EF4-FFF2-40B4-BE49-F238E27FC236}">
                <a16:creationId xmlns:a16="http://schemas.microsoft.com/office/drawing/2014/main" id="{287E5E4A-E3CC-40B6-AC84-B597345E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What the chart means</a:t>
            </a:r>
          </a:p>
        </p:txBody>
      </p:sp>
      <p:sp>
        <p:nvSpPr>
          <p:cNvPr id="4" name="stat-5-218">
            <a:extLst xmlns:a="http://schemas.openxmlformats.org/drawingml/2006/main">
              <a:ext uri="{FF2B5EF4-FFF2-40B4-BE49-F238E27FC236}">
                <a16:creationId xmlns:a16="http://schemas.microsoft.com/office/drawing/2014/main" id="{5754435A-517F-4FCD-96E0-7CB3F2F1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764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42.0%</a:t>
            </a:r>
          </a:p>
        </p:txBody>
      </p:sp>
      <p:sp>
        <p:nvSpPr>
          <p:cNvPr id="5" name="stat-label-5-218">
            <a:extLst xmlns:a="http://schemas.openxmlformats.org/drawingml/2006/main">
              <a:ext uri="{FF2B5EF4-FFF2-40B4-BE49-F238E27FC236}">
                <a16:creationId xmlns:a16="http://schemas.microsoft.com/office/drawing/2014/main" id="{E1123F57-6D23-44D3-B666-368AA1B3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051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Denmark, 2025</a:t>
            </a:r>
          </a:p>
        </p:txBody>
      </p:sp>
      <p:sp>
        <p:nvSpPr>
          <p:cNvPr id="6" name="stat-5-360">
            <a:extLst xmlns:a="http://schemas.openxmlformats.org/drawingml/2006/main">
              <a:ext uri="{FF2B5EF4-FFF2-40B4-BE49-F238E27FC236}">
                <a16:creationId xmlns:a16="http://schemas.microsoft.com/office/drawing/2014/main" id="{C23FA94B-CD0C-44CD-8B82-467E71F1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5.2%</a:t>
            </a:r>
          </a:p>
        </p:txBody>
      </p:sp>
      <p:sp>
        <p:nvSpPr>
          <p:cNvPr id="7" name="stat-label-5-360">
            <a:extLst xmlns:a="http://schemas.openxmlformats.org/drawingml/2006/main">
              <a:ext uri="{FF2B5EF4-FFF2-40B4-BE49-F238E27FC236}">
                <a16:creationId xmlns:a16="http://schemas.microsoft.com/office/drawing/2014/main" id="{BBA032A6-3418-4981-9A4A-F535D906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576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Romania, 2025</a:t>
            </a:r>
          </a:p>
        </p:txBody>
      </p:sp>
      <p:sp>
        <p:nvSpPr>
          <p:cNvPr id="8" name="takeaway-5">
            <a:extLst xmlns:a="http://schemas.openxmlformats.org/drawingml/2006/main">
              <a:ext uri="{FF2B5EF4-FFF2-40B4-BE49-F238E27FC236}">
                <a16:creationId xmlns:a16="http://schemas.microsoft.com/office/drawing/2014/main" id="{B9206588-4813-4FD6-87BE-53DF2B0E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5775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Several leaders accelerated faster than the laggards.</a:t>
            </a:r>
          </a:p>
        </p:txBody>
      </p:sp>
      <p:sp>
        <p:nvSpPr>
          <p:cNvPr id="9" name="source-5">
            <a:extLst xmlns:a="http://schemas.openxmlformats.org/drawingml/2006/main">
              <a:ext uri="{FF2B5EF4-FFF2-40B4-BE49-F238E27FC236}">
                <a16:creationId xmlns:a16="http://schemas.microsoft.com/office/drawing/2014/main" id="{01AE961A-E560-4221-91DA-7637BE03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Eurostat - enterprise ICT survey, 2023-2025</a:t>
            </a:r>
          </a:p>
        </p:txBody>
      </p:sp>
      <p:sp>
        <p:nvSpPr>
          <p:cNvPr id="10" name="page-5">
            <a:extLst xmlns:a="http://schemas.openxmlformats.org/drawingml/2006/main">
              <a:ext uri="{FF2B5EF4-FFF2-40B4-BE49-F238E27FC236}">
                <a16:creationId xmlns:a16="http://schemas.microsoft.com/office/drawing/2014/main" id="{82892FDE-5F2C-4BF0-90B0-0F1623E9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97604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5AB68633-4C1A-4BC8-8390-0F9F532E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Firm size is Europe's most consistent AI fault line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c747a4fd74ba9"/>
          <a:stretch xmlns:a="http://schemas.openxmlformats.org/drawingml/2006/main"/>
        </p:blipFill>
        <p:spPr>
          <a:xfrm xmlns:a="http://schemas.openxmlformats.org/drawingml/2006/main">
            <a:off x="400050" y="1993900"/>
            <a:ext cx="7810500" cy="3384550"/>
          </a:xfrm>
          <a:prstGeom xmlns:a="http://schemas.openxmlformats.org/drawingml/2006/main" prst="rect">
            <a:avLst/>
          </a:prstGeom>
        </p:spPr>
      </p:pic>
      <p:sp>
        <p:nvSpPr>
          <p:cNvPr id="3" name="rail-header-6">
            <a:extLst xmlns:a="http://schemas.openxmlformats.org/drawingml/2006/main">
              <a:ext uri="{FF2B5EF4-FFF2-40B4-BE49-F238E27FC236}">
                <a16:creationId xmlns:a16="http://schemas.microsoft.com/office/drawing/2014/main" id="{8A74E1BD-9512-48A8-A11F-C2F215EB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What the chart means</a:t>
            </a:r>
          </a:p>
        </p:txBody>
      </p:sp>
      <p:sp>
        <p:nvSpPr>
          <p:cNvPr id="4" name="stat-6-218">
            <a:extLst xmlns:a="http://schemas.openxmlformats.org/drawingml/2006/main">
              <a:ext uri="{FF2B5EF4-FFF2-40B4-BE49-F238E27FC236}">
                <a16:creationId xmlns:a16="http://schemas.microsoft.com/office/drawing/2014/main" id="{D5C70407-CF6F-4A96-BD81-647FB70E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764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53.5 pp</a:t>
            </a:r>
          </a:p>
        </p:txBody>
      </p:sp>
      <p:sp>
        <p:nvSpPr>
          <p:cNvPr id="5" name="stat-label-6-218">
            <a:extLst xmlns:a="http://schemas.openxmlformats.org/drawingml/2006/main">
              <a:ext uri="{FF2B5EF4-FFF2-40B4-BE49-F238E27FC236}">
                <a16:creationId xmlns:a16="http://schemas.microsoft.com/office/drawing/2014/main" id="{B24AFB4E-0D03-4DCA-A5A2-BDB9837E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051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Slovenia's large-small gap</a:t>
            </a:r>
          </a:p>
        </p:txBody>
      </p:sp>
      <p:sp>
        <p:nvSpPr>
          <p:cNvPr id="6" name="stat-6-360">
            <a:extLst xmlns:a="http://schemas.openxmlformats.org/drawingml/2006/main">
              <a:ext uri="{FF2B5EF4-FFF2-40B4-BE49-F238E27FC236}">
                <a16:creationId xmlns:a16="http://schemas.microsoft.com/office/drawing/2014/main" id="{C8B631E4-8A57-4265-AD43-70C4162F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E69F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9F00"/>
                </a:solidFill>
                <a:latin typeface="Arial"/>
                <a:ea typeface="Arial"/>
                <a:cs typeface="Arial"/>
              </a:rPr>
              <a:t>47.6 pp</a:t>
            </a:r>
          </a:p>
        </p:txBody>
      </p:sp>
      <p:sp>
        <p:nvSpPr>
          <p:cNvPr id="7" name="stat-label-6-360">
            <a:extLst xmlns:a="http://schemas.openxmlformats.org/drawingml/2006/main">
              <a:ext uri="{FF2B5EF4-FFF2-40B4-BE49-F238E27FC236}">
                <a16:creationId xmlns:a16="http://schemas.microsoft.com/office/drawing/2014/main" id="{AD1AA263-56FC-4463-A274-7B502721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576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Belgium's large-small gap</a:t>
            </a:r>
          </a:p>
        </p:txBody>
      </p:sp>
      <p:sp>
        <p:nvSpPr>
          <p:cNvPr id="8" name="takeaway-6">
            <a:extLst xmlns:a="http://schemas.openxmlformats.org/drawingml/2006/main">
              <a:ext uri="{FF2B5EF4-FFF2-40B4-BE49-F238E27FC236}">
                <a16:creationId xmlns:a16="http://schemas.microsoft.com/office/drawing/2014/main" id="{E35E8FE4-3B95-457B-BC18-8A6C04B9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5775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High national adoption does not guarantee equal access.</a:t>
            </a:r>
          </a:p>
        </p:txBody>
      </p:sp>
      <p:sp>
        <p:nvSpPr>
          <p:cNvPr id="9" name="source-6">
            <a:extLst xmlns:a="http://schemas.openxmlformats.org/drawingml/2006/main">
              <a:ext uri="{FF2B5EF4-FFF2-40B4-BE49-F238E27FC236}">
                <a16:creationId xmlns:a16="http://schemas.microsoft.com/office/drawing/2014/main" id="{55F92438-6F7E-468B-B88F-77D50882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Eurostat - enterprise ICT survey, 2023-2025</a:t>
            </a:r>
          </a:p>
        </p:txBody>
      </p:sp>
      <p:sp>
        <p:nvSpPr>
          <p:cNvPr id="10" name="page-6">
            <a:extLst xmlns:a="http://schemas.openxmlformats.org/drawingml/2006/main">
              <a:ext uri="{FF2B5EF4-FFF2-40B4-BE49-F238E27FC236}">
                <a16:creationId xmlns:a16="http://schemas.microsoft.com/office/drawing/2014/main" id="{97E2CE02-6B99-47EB-938C-EC7153C0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51541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6B2F49B8-455D-4600-A247-1FB9F078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Information and communication reached 63%; construction stays near 11%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2fb1896c3472c"/>
          <a:stretch xmlns:a="http://schemas.openxmlformats.org/drawingml/2006/main"/>
        </p:blipFill>
        <p:spPr>
          <a:xfrm xmlns:a="http://schemas.openxmlformats.org/drawingml/2006/main">
            <a:off x="400050" y="1993900"/>
            <a:ext cx="7810500" cy="3384550"/>
          </a:xfrm>
          <a:prstGeom xmlns:a="http://schemas.openxmlformats.org/drawingml/2006/main" prst="rect">
            <a:avLst/>
          </a:prstGeom>
        </p:spPr>
      </p:pic>
      <p:sp>
        <p:nvSpPr>
          <p:cNvPr id="3" name="rail-header-7">
            <a:extLst xmlns:a="http://schemas.openxmlformats.org/drawingml/2006/main">
              <a:ext uri="{FF2B5EF4-FFF2-40B4-BE49-F238E27FC236}">
                <a16:creationId xmlns:a16="http://schemas.microsoft.com/office/drawing/2014/main" id="{E9ADEC12-4366-4F8B-A2FC-0131E481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What the chart means</a:t>
            </a:r>
          </a:p>
        </p:txBody>
      </p:sp>
      <p:sp>
        <p:nvSpPr>
          <p:cNvPr id="4" name="stat-7-218">
            <a:extLst xmlns:a="http://schemas.openxmlformats.org/drawingml/2006/main">
              <a:ext uri="{FF2B5EF4-FFF2-40B4-BE49-F238E27FC236}">
                <a16:creationId xmlns:a16="http://schemas.microsoft.com/office/drawing/2014/main" id="{9DF09DC8-181A-42F5-99EE-DF43A474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764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62.5%</a:t>
            </a:r>
          </a:p>
        </p:txBody>
      </p:sp>
      <p:sp>
        <p:nvSpPr>
          <p:cNvPr id="5" name="stat-label-7-218">
            <a:extLst xmlns:a="http://schemas.openxmlformats.org/drawingml/2006/main">
              <a:ext uri="{FF2B5EF4-FFF2-40B4-BE49-F238E27FC236}">
                <a16:creationId xmlns:a16="http://schemas.microsoft.com/office/drawing/2014/main" id="{0A8E0FC5-35D1-4503-AD7F-0656586E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051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Information and communication</a:t>
            </a:r>
          </a:p>
        </p:txBody>
      </p:sp>
      <p:sp>
        <p:nvSpPr>
          <p:cNvPr id="6" name="stat-7-360">
            <a:extLst xmlns:a="http://schemas.openxmlformats.org/drawingml/2006/main">
              <a:ext uri="{FF2B5EF4-FFF2-40B4-BE49-F238E27FC236}">
                <a16:creationId xmlns:a16="http://schemas.microsoft.com/office/drawing/2014/main" id="{18D61181-DFFC-4AD6-B692-CE28538A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10.8%</a:t>
            </a:r>
          </a:p>
        </p:txBody>
      </p:sp>
      <p:sp>
        <p:nvSpPr>
          <p:cNvPr id="7" name="stat-label-7-360">
            <a:extLst xmlns:a="http://schemas.openxmlformats.org/drawingml/2006/main">
              <a:ext uri="{FF2B5EF4-FFF2-40B4-BE49-F238E27FC236}">
                <a16:creationId xmlns:a16="http://schemas.microsoft.com/office/drawing/2014/main" id="{8EA922D9-F4A6-4D4A-96B4-FE49E4DB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576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8" name="takeaway-7">
            <a:extLst xmlns:a="http://schemas.openxmlformats.org/drawingml/2006/main">
              <a:ext uri="{FF2B5EF4-FFF2-40B4-BE49-F238E27FC236}">
                <a16:creationId xmlns:a16="http://schemas.microsoft.com/office/drawing/2014/main" id="{C8A3B13D-8724-4483-BF41-5BFEBCC2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5775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Sector relevance and digital maturity shape the ceiling.</a:t>
            </a:r>
          </a:p>
        </p:txBody>
      </p:sp>
      <p:sp>
        <p:nvSpPr>
          <p:cNvPr id="9" name="source-7">
            <a:extLst xmlns:a="http://schemas.openxmlformats.org/drawingml/2006/main">
              <a:ext uri="{FF2B5EF4-FFF2-40B4-BE49-F238E27FC236}">
                <a16:creationId xmlns:a16="http://schemas.microsoft.com/office/drawing/2014/main" id="{E4AB36B9-5F32-4087-BDF2-1CCC2A87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Eurostat - enterprise ICT survey, 2023-2025</a:t>
            </a:r>
          </a:p>
        </p:txBody>
      </p:sp>
      <p:sp>
        <p:nvSpPr>
          <p:cNvPr id="10" name="page-7">
            <a:extLst xmlns:a="http://schemas.openxmlformats.org/drawingml/2006/main">
              <a:ext uri="{FF2B5EF4-FFF2-40B4-BE49-F238E27FC236}">
                <a16:creationId xmlns:a16="http://schemas.microsoft.com/office/drawing/2014/main" id="{263FD2B4-9112-46AD-8DE8-694E58FA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387375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1B27261F-F37E-4FF4-BEF7-9328CDD9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Large adopters build a broader AI technology stack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b86fff5194415"/>
          <a:stretch xmlns:a="http://schemas.openxmlformats.org/drawingml/2006/main"/>
        </p:blipFill>
        <p:spPr>
          <a:xfrm xmlns:a="http://schemas.openxmlformats.org/drawingml/2006/main">
            <a:off x="400050" y="1993900"/>
            <a:ext cx="7810500" cy="3384550"/>
          </a:xfrm>
          <a:prstGeom xmlns:a="http://schemas.openxmlformats.org/drawingml/2006/main" prst="rect">
            <a:avLst/>
          </a:prstGeom>
        </p:spPr>
      </p:pic>
      <p:sp>
        <p:nvSpPr>
          <p:cNvPr id="3" name="rail-header-8">
            <a:extLst xmlns:a="http://schemas.openxmlformats.org/drawingml/2006/main">
              <a:ext uri="{FF2B5EF4-FFF2-40B4-BE49-F238E27FC236}">
                <a16:creationId xmlns:a16="http://schemas.microsoft.com/office/drawing/2014/main" id="{BE47D154-902C-4AA2-9DE4-35CDFAFD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What the chart means</a:t>
            </a:r>
          </a:p>
        </p:txBody>
      </p:sp>
      <p:sp>
        <p:nvSpPr>
          <p:cNvPr id="4" name="stat-8-218">
            <a:extLst xmlns:a="http://schemas.openxmlformats.org/drawingml/2006/main">
              <a:ext uri="{FF2B5EF4-FFF2-40B4-BE49-F238E27FC236}">
                <a16:creationId xmlns:a16="http://schemas.microsoft.com/office/drawing/2014/main" id="{864BC8BB-DEFA-4683-BB91-4C85CB89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764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45.5%</a:t>
            </a:r>
          </a:p>
        </p:txBody>
      </p:sp>
      <p:sp>
        <p:nvSpPr>
          <p:cNvPr id="5" name="stat-label-8-218">
            <a:extLst xmlns:a="http://schemas.openxmlformats.org/drawingml/2006/main">
              <a:ext uri="{FF2B5EF4-FFF2-40B4-BE49-F238E27FC236}">
                <a16:creationId xmlns:a16="http://schemas.microsoft.com/office/drawing/2014/main" id="{7E9B545C-6BC4-436A-973B-B94C7091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051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2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Large adopters using machine learning</a:t>
            </a:r>
          </a:p>
        </p:txBody>
      </p:sp>
      <p:sp>
        <p:nvSpPr>
          <p:cNvPr id="6" name="stat-8-360">
            <a:extLst xmlns:a="http://schemas.openxmlformats.org/drawingml/2006/main">
              <a:ext uri="{FF2B5EF4-FFF2-40B4-BE49-F238E27FC236}">
                <a16:creationId xmlns:a16="http://schemas.microsoft.com/office/drawing/2014/main" id="{3FB5C75C-5542-45B0-85F2-471FA2E3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22.4%</a:t>
            </a:r>
          </a:p>
        </p:txBody>
      </p:sp>
      <p:sp>
        <p:nvSpPr>
          <p:cNvPr id="7" name="stat-label-8-360">
            <a:extLst xmlns:a="http://schemas.openxmlformats.org/drawingml/2006/main">
              <a:ext uri="{FF2B5EF4-FFF2-40B4-BE49-F238E27FC236}">
                <a16:creationId xmlns:a16="http://schemas.microsoft.com/office/drawing/2014/main" id="{E3E560D0-C829-4F12-95F3-A1F716E8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576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Small adopters using machine learning</a:t>
            </a:r>
          </a:p>
        </p:txBody>
      </p:sp>
      <p:sp>
        <p:nvSpPr>
          <p:cNvPr id="8" name="takeaway-8">
            <a:extLst xmlns:a="http://schemas.openxmlformats.org/drawingml/2006/main">
              <a:ext uri="{FF2B5EF4-FFF2-40B4-BE49-F238E27FC236}">
                <a16:creationId xmlns:a16="http://schemas.microsoft.com/office/drawing/2014/main" id="{BFF44389-23A7-419A-A489-6F6B5D9F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5775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The gap is about capability depth, not just initial adoption.</a:t>
            </a:r>
          </a:p>
        </p:txBody>
      </p:sp>
      <p:sp>
        <p:nvSpPr>
          <p:cNvPr id="9" name="source-8">
            <a:extLst xmlns:a="http://schemas.openxmlformats.org/drawingml/2006/main">
              <a:ext uri="{FF2B5EF4-FFF2-40B4-BE49-F238E27FC236}">
                <a16:creationId xmlns:a16="http://schemas.microsoft.com/office/drawing/2014/main" id="{6770559F-1404-4630-9798-C9264384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Eurostat - enterprise ICT survey, 2023-2025</a:t>
            </a:r>
          </a:p>
        </p:txBody>
      </p:sp>
      <p:sp>
        <p:nvSpPr>
          <p:cNvPr id="10" name="page-8">
            <a:extLst xmlns:a="http://schemas.openxmlformats.org/drawingml/2006/main">
              <a:ext uri="{FF2B5EF4-FFF2-40B4-BE49-F238E27FC236}">
                <a16:creationId xmlns:a16="http://schemas.microsoft.com/office/drawing/2014/main" id="{99A1DE69-CC40-4571-8C65-416ABE04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704500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ABFE9ED1-B11B-4314-BF08-3000096C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There is no universal AI playbook across sectors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9fc2ab4854f34"/>
          <a:stretch xmlns:a="http://schemas.openxmlformats.org/drawingml/2006/main"/>
        </p:blipFill>
        <p:spPr>
          <a:xfrm xmlns:a="http://schemas.openxmlformats.org/drawingml/2006/main">
            <a:off x="400050" y="1246505"/>
            <a:ext cx="11391900" cy="4936490"/>
          </a:xfrm>
          <a:prstGeom xmlns:a="http://schemas.openxmlformats.org/drawingml/2006/main" prst="rect">
            <a:avLst/>
          </a:prstGeom>
        </p:spPr>
      </p:pic>
      <p:sp>
        <p:nvSpPr>
          <p:cNvPr id="3" name="source-9">
            <a:extLst xmlns:a="http://schemas.openxmlformats.org/drawingml/2006/main">
              <a:ext uri="{FF2B5EF4-FFF2-40B4-BE49-F238E27FC236}">
                <a16:creationId xmlns:a16="http://schemas.microsoft.com/office/drawing/2014/main" id="{4A358816-AFC9-40EC-B5DA-17E8773C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Eurostat - enterprise ICT survey, 2023-2025</a:t>
            </a:r>
          </a:p>
        </p:txBody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7F726455-51EB-4A79-8550-8A92652D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352993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6BC4072D-B4A2-4902-B24A-287ED9E2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Skills - not cost - are the dominant AI blocker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3d9f887f74a06"/>
          <a:stretch xmlns:a="http://schemas.openxmlformats.org/drawingml/2006/main"/>
        </p:blipFill>
        <p:spPr>
          <a:xfrm xmlns:a="http://schemas.openxmlformats.org/drawingml/2006/main">
            <a:off x="400050" y="1993900"/>
            <a:ext cx="7810500" cy="3384550"/>
          </a:xfrm>
          <a:prstGeom xmlns:a="http://schemas.openxmlformats.org/drawingml/2006/main" prst="rect">
            <a:avLst/>
          </a:prstGeom>
        </p:spPr>
      </p:pic>
      <p:sp>
        <p:nvSpPr>
          <p:cNvPr id="3" name="rail-header-10">
            <a:extLst xmlns:a="http://schemas.openxmlformats.org/drawingml/2006/main">
              <a:ext uri="{FF2B5EF4-FFF2-40B4-BE49-F238E27FC236}">
                <a16:creationId xmlns:a16="http://schemas.microsoft.com/office/drawing/2014/main" id="{75E32160-8238-4842-A720-8CFBCBEA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What the chart means</a:t>
            </a:r>
          </a:p>
        </p:txBody>
      </p:sp>
      <p:sp>
        <p:nvSpPr>
          <p:cNvPr id="4" name="stat-10-218">
            <a:extLst xmlns:a="http://schemas.openxmlformats.org/drawingml/2006/main">
              <a:ext uri="{FF2B5EF4-FFF2-40B4-BE49-F238E27FC236}">
                <a16:creationId xmlns:a16="http://schemas.microsoft.com/office/drawing/2014/main" id="{BBF7F831-86F5-45B6-B5DF-A80E0D6D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764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E69F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9F00"/>
                </a:solidFill>
                <a:latin typeface="Arial"/>
                <a:ea typeface="Arial"/>
                <a:cs typeface="Arial"/>
              </a:rPr>
              <a:t>70.3%</a:t>
            </a:r>
          </a:p>
        </p:txBody>
      </p:sp>
      <p:sp>
        <p:nvSpPr>
          <p:cNvPr id="5" name="stat-label-10-218">
            <a:extLst xmlns:a="http://schemas.openxmlformats.org/drawingml/2006/main">
              <a:ext uri="{FF2B5EF4-FFF2-40B4-BE49-F238E27FC236}">
                <a16:creationId xmlns:a16="http://schemas.microsoft.com/office/drawing/2014/main" id="{F12BF0B5-275C-493E-9020-D593D1BD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051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Cite a lack of expertise</a:t>
            </a:r>
          </a:p>
        </p:txBody>
      </p:sp>
      <p:sp>
        <p:nvSpPr>
          <p:cNvPr id="6" name="stat-10-360">
            <a:extLst xmlns:a="http://schemas.openxmlformats.org/drawingml/2006/main">
              <a:ext uri="{FF2B5EF4-FFF2-40B4-BE49-F238E27FC236}">
                <a16:creationId xmlns:a16="http://schemas.microsoft.com/office/drawing/2014/main" id="{D0DDBE3D-F87D-4934-ABA3-12382970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#6</a:t>
            </a:r>
          </a:p>
        </p:txBody>
      </p:sp>
      <p:sp>
        <p:nvSpPr>
          <p:cNvPr id="7" name="stat-label-10-360">
            <a:extLst xmlns:a="http://schemas.openxmlformats.org/drawingml/2006/main">
              <a:ext uri="{FF2B5EF4-FFF2-40B4-BE49-F238E27FC236}">
                <a16:creationId xmlns:a16="http://schemas.microsoft.com/office/drawing/2014/main" id="{0743301D-705A-4D39-9716-17573529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576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Cost's rank among eight barriers</a:t>
            </a:r>
          </a:p>
        </p:txBody>
      </p:sp>
      <p:sp>
        <p:nvSpPr>
          <p:cNvPr id="8" name="takeaway-10">
            <a:extLst xmlns:a="http://schemas.openxmlformats.org/drawingml/2006/main">
              <a:ext uri="{FF2B5EF4-FFF2-40B4-BE49-F238E27FC236}">
                <a16:creationId xmlns:a16="http://schemas.microsoft.com/office/drawing/2014/main" id="{92202A1D-0673-47C1-B140-3F0DF9C3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5775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Implementation capability and governance matter more than cheaper tools alone.</a:t>
            </a:r>
          </a:p>
        </p:txBody>
      </p:sp>
      <p:sp>
        <p:nvSpPr>
          <p:cNvPr id="9" name="source-10">
            <a:extLst xmlns:a="http://schemas.openxmlformats.org/drawingml/2006/main">
              <a:ext uri="{FF2B5EF4-FFF2-40B4-BE49-F238E27FC236}">
                <a16:creationId xmlns:a16="http://schemas.microsoft.com/office/drawing/2014/main" id="{524F64E0-DE68-489D-9A7C-B32B3B1B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Eurostat - enterprise ICT survey, 2023-2025</a:t>
            </a:r>
          </a:p>
        </p:txBody>
      </p:sp>
      <p:sp>
        <p:nvSpPr>
          <p:cNvPr id="10" name="page-10">
            <a:extLst xmlns:a="http://schemas.openxmlformats.org/drawingml/2006/main">
              <a:ext uri="{FF2B5EF4-FFF2-40B4-BE49-F238E27FC236}">
                <a16:creationId xmlns:a16="http://schemas.microsoft.com/office/drawing/2014/main" id="{6FC925D5-E534-49C5-9E6E-989FF825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9504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2ACB8BB3-753F-42D5-9654-6EF94087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63"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The dashboard turns the story into a guided exploration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b913bec65442a"/>
          <a:stretch xmlns:a="http://schemas.openxmlformats.org/drawingml/2006/main"/>
        </p:blipFill>
        <p:spPr>
          <a:xfrm xmlns:a="http://schemas.openxmlformats.org/drawingml/2006/main" flipH="0" flipV="0">
            <a:off x="400050" y="1557338"/>
            <a:ext cx="5429250" cy="235267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e1f91e123402f"/>
          <a:stretch xmlns:a="http://schemas.openxmlformats.org/drawingml/2006/main"/>
        </p:blipFill>
        <p:spPr>
          <a:xfrm xmlns:a="http://schemas.openxmlformats.org/drawingml/2006/main" flipH="0" flipV="0">
            <a:off x="6362700" y="1557338"/>
            <a:ext cx="5429250" cy="2352675"/>
          </a:xfrm>
          <a:prstGeom xmlns:a="http://schemas.openxmlformats.org/drawingml/2006/main" prst="rect">
            <a:avLst/>
          </a:prstGeom>
        </p:spPr>
      </p:pic>
      <p:sp>
        <p:nvSpPr>
          <p:cNvPr id="4" name="dashboard-features">
            <a:extLst xmlns:a="http://schemas.openxmlformats.org/drawingml/2006/main">
              <a:ext uri="{FF2B5EF4-FFF2-40B4-BE49-F238E27FC236}">
                <a16:creationId xmlns:a16="http://schemas.microsoft.com/office/drawing/2014/main" id="{21DA286E-0B75-464D-B3DB-95887DA0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Five tabs - year filter - country selector - sector and purpose explorer</a:t>
            </a:r>
          </a:p>
        </p:txBody>
      </p:sp>
      <p:sp>
        <p:nvSpPr>
          <p:cNvPr id="5" name="github-link">
            <a:extLst xmlns:a="http://schemas.openxmlformats.org/drawingml/2006/main">
              <a:ext uri="{FF2B5EF4-FFF2-40B4-BE49-F238E27FC236}">
                <a16:creationId xmlns:a16="http://schemas.microsoft.com/office/drawing/2014/main" id="{5C74DC02-6C08-4050-8AC5-6A0D6492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GitHub: https://github.com/Heizenberg143/eu-ai-adoption-gap</a:t>
            </a:r>
          </a:p>
        </p:txBody>
      </p:sp>
      <p:sp>
        <p:nvSpPr>
          <p:cNvPr id="6" name="dashboard-link">
            <a:extLst xmlns:a="http://schemas.openxmlformats.org/drawingml/2006/main">
              <a:ext uri="{FF2B5EF4-FFF2-40B4-BE49-F238E27FC236}">
                <a16:creationId xmlns:a16="http://schemas.microsoft.com/office/drawing/2014/main" id="{00D5EE3D-69E2-45F9-A0FE-2377866F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Live dashboard: https://usaid-eu-ai-adoption-gap.streamlit.app/</a:t>
            </a:r>
          </a:p>
        </p:txBody>
      </p:sp>
      <p:sp>
        <p:nvSpPr>
          <p:cNvPr id="7" name="source-11">
            <a:extLst xmlns:a="http://schemas.openxmlformats.org/drawingml/2006/main">
              <a:ext uri="{FF2B5EF4-FFF2-40B4-BE49-F238E27FC236}">
                <a16:creationId xmlns:a16="http://schemas.microsoft.com/office/drawing/2014/main" id="{ABE36CAC-8C63-4FBA-85BE-9AC1BB3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Eurostat - enterprise ICT survey, 2023-2025</a:t>
            </a:r>
          </a:p>
        </p:txBody>
      </p:sp>
      <p:sp>
        <p:nvSpPr>
          <p:cNvPr id="8" name="page-11">
            <a:extLst xmlns:a="http://schemas.openxmlformats.org/drawingml/2006/main">
              <a:ext uri="{FF2B5EF4-FFF2-40B4-BE49-F238E27FC236}">
                <a16:creationId xmlns:a16="http://schemas.microsoft.com/office/drawing/2014/main" id="{79AF908E-8CB0-4860-83C7-A09C4EC2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38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312888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159ABFF1-3602-4701-8A2C-C6C9453B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Acceleration
without convergence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93989FC-1D81-484A-840A-BF957521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Build implementation capability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Reduce governance uncertainty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Strengthen cloud and data foundations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4661A60-A670-4CEE-8418-4E7DC5F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38521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2026-07-24T23:54:35.0480000Z</dcterms:created>
  <dcterms:modified xsi:type="dcterms:W3CDTF">2026-07-24T23:54:35.0480000Z</dcterms:modified>
</coreProperties>
</file>