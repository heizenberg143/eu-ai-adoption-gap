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de179946864e82" /><Relationship Type="http://schemas.openxmlformats.org/officeDocument/2006/relationships/extended-properties" Target="/docProps/app.xml" Id="R4bcaa9a08a154875" /><Relationship Type="http://schemas.openxmlformats.org/officeDocument/2006/relationships/officeDocument" Target="/ppt/presentation.xml" Id="R14ca18f3811648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5d253c0fbc4c28"/>
  </p:sldMasterIdLst>
  <p:notesMasterIdLst>
    <p:notesMasterId xmlns:r="http://schemas.openxmlformats.org/officeDocument/2006/relationships" r:id="R31e0e23385b24613"/>
  </p:notesMasterIdLst>
  <p:sldIdLst>
    <p:sldId xmlns:r="http://schemas.openxmlformats.org/officeDocument/2006/relationships" id="256" r:id="Rf087dec262904383"/>
    <p:sldId xmlns:r="http://schemas.openxmlformats.org/officeDocument/2006/relationships" id="257" r:id="Re7e9e0fb5f224c6d"/>
    <p:sldId xmlns:r="http://schemas.openxmlformats.org/officeDocument/2006/relationships" id="258" r:id="R139d275833b145b7"/>
    <p:sldId xmlns:r="http://schemas.openxmlformats.org/officeDocument/2006/relationships" id="259" r:id="R5349f110fe4940f5"/>
    <p:sldId xmlns:r="http://schemas.openxmlformats.org/officeDocument/2006/relationships" id="260" r:id="R3d0bdf3c0f404e00"/>
    <p:sldId xmlns:r="http://schemas.openxmlformats.org/officeDocument/2006/relationships" id="261" r:id="R7ac529f8a7994372"/>
    <p:sldId xmlns:r="http://schemas.openxmlformats.org/officeDocument/2006/relationships" id="262" r:id="R8adc218247c54330"/>
    <p:sldId xmlns:r="http://schemas.openxmlformats.org/officeDocument/2006/relationships" id="263" r:id="R42bca3f5a0db447d"/>
    <p:sldId xmlns:r="http://schemas.openxmlformats.org/officeDocument/2006/relationships" id="264" r:id="Ra181f9b59263474e"/>
    <p:sldId xmlns:r="http://schemas.openxmlformats.org/officeDocument/2006/relationships" id="265" r:id="R29b051a62b524d8b"/>
    <p:sldId xmlns:r="http://schemas.openxmlformats.org/officeDocument/2006/relationships" id="266" r:id="Re3ab565cad4a4cb3"/>
    <p:sldId xmlns:r="http://schemas.openxmlformats.org/officeDocument/2006/relationships" id="267" r:id="R25186f841d064b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7e28f628aa4d54" /><Relationship Type="http://schemas.openxmlformats.org/officeDocument/2006/relationships/slideMaster" Target="/ppt/slideMasters/slideMaster1.xml" Id="Rf85d253c0fbc4c28" /><Relationship Type="http://schemas.openxmlformats.org/officeDocument/2006/relationships/notesMaster" Target="/ppt/notesMasters/notesMaster1.xml" Id="R31e0e23385b24613" /><Relationship Type="http://schemas.openxmlformats.org/officeDocument/2006/relationships/presProps" Target="/ppt/presProps.xml" Id="Rff6a23445ca9482f" /><Relationship Type="http://schemas.openxmlformats.org/officeDocument/2006/relationships/tableStyles" Target="/ppt/tableStyles.xml" Id="R4079313f467e4a73" /><Relationship Type="http://schemas.openxmlformats.org/officeDocument/2006/relationships/slide" Target="/ppt/slides/slide1.xml" Id="Rf087dec262904383" /><Relationship Type="http://schemas.openxmlformats.org/officeDocument/2006/relationships/slide" Target="/ppt/slides/slide2.xml" Id="Re7e9e0fb5f224c6d" /><Relationship Type="http://schemas.openxmlformats.org/officeDocument/2006/relationships/slide" Target="/ppt/slides/slide3.xml" Id="R139d275833b145b7" /><Relationship Type="http://schemas.openxmlformats.org/officeDocument/2006/relationships/slide" Target="/ppt/slides/slide4.xml" Id="R5349f110fe4940f5" /><Relationship Type="http://schemas.openxmlformats.org/officeDocument/2006/relationships/slide" Target="/ppt/slides/slide5.xml" Id="R3d0bdf3c0f404e00" /><Relationship Type="http://schemas.openxmlformats.org/officeDocument/2006/relationships/slide" Target="/ppt/slides/slide6.xml" Id="R7ac529f8a7994372" /><Relationship Type="http://schemas.openxmlformats.org/officeDocument/2006/relationships/slide" Target="/ppt/slides/slide7.xml" Id="R8adc218247c54330" /><Relationship Type="http://schemas.openxmlformats.org/officeDocument/2006/relationships/slide" Target="/ppt/slides/slide8.xml" Id="R42bca3f5a0db447d" /><Relationship Type="http://schemas.openxmlformats.org/officeDocument/2006/relationships/slide" Target="/ppt/slides/slide9.xml" Id="Ra181f9b59263474e" /><Relationship Type="http://schemas.openxmlformats.org/officeDocument/2006/relationships/slide" Target="/ppt/slides/slide10.xml" Id="R29b051a62b524d8b" /><Relationship Type="http://schemas.openxmlformats.org/officeDocument/2006/relationships/slide" Target="/ppt/slides/slide11.xml" Id="Re3ab565cad4a4cb3" /><Relationship Type="http://schemas.openxmlformats.org/officeDocument/2006/relationships/slide" Target="/ppt/slides/slide12.xml" Id="R25186f841d064b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b2120840eb42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541c359dd94843" /><Relationship Type="http://schemas.openxmlformats.org/officeDocument/2006/relationships/notesMaster" Target="/ppt/notesMasters/notesMaster1.xml" Id="Rff8b2032db074a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74edbde05747ed" /><Relationship Type="http://schemas.openxmlformats.org/officeDocument/2006/relationships/notesMaster" Target="/ppt/notesMasters/notesMaster1.xml" Id="R6563c5998b5646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34c9ab06fc49c8" /><Relationship Type="http://schemas.openxmlformats.org/officeDocument/2006/relationships/notesMaster" Target="/ppt/notesMasters/notesMaster1.xml" Id="R383b550d37ae4f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e1475de7a348d6" /><Relationship Type="http://schemas.openxmlformats.org/officeDocument/2006/relationships/notesMaster" Target="/ppt/notesMasters/notesMaster1.xml" Id="Re414cd11b75e42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7c476e5c704bda" /><Relationship Type="http://schemas.openxmlformats.org/officeDocument/2006/relationships/notesMaster" Target="/ppt/notesMasters/notesMaster1.xml" Id="R7e5473a3be164b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094ba23dc34db5" /><Relationship Type="http://schemas.openxmlformats.org/officeDocument/2006/relationships/notesMaster" Target="/ppt/notesMasters/notesMaster1.xml" Id="R8915629785b445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5bafc622ee46ef" /><Relationship Type="http://schemas.openxmlformats.org/officeDocument/2006/relationships/notesMaster" Target="/ppt/notesMasters/notesMaster1.xml" Id="R8195bb878ea748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f4a49bf52249f8" /><Relationship Type="http://schemas.openxmlformats.org/officeDocument/2006/relationships/notesMaster" Target="/ppt/notesMasters/notesMaster1.xml" Id="R70d85b3dde0043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cf433cb5f549f6" /><Relationship Type="http://schemas.openxmlformats.org/officeDocument/2006/relationships/notesMaster" Target="/ppt/notesMasters/notesMaster1.xml" Id="R3ecc49ee35684c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793641b3f44f9c" /><Relationship Type="http://schemas.openxmlformats.org/officeDocument/2006/relationships/notesMaster" Target="/ppt/notesMasters/notesMaster1.xml" Id="Rc2e265554f8a4f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978bde1db24814" /><Relationship Type="http://schemas.openxmlformats.org/officeDocument/2006/relationships/notesMaster" Target="/ppt/notesMasters/notesMaster1.xml" Id="R428ea3869f4541a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67c4c0ec0842c1" /><Relationship Type="http://schemas.openxmlformats.org/officeDocument/2006/relationships/notesMaster" Target="/ppt/notesMasters/notesMaster1.xml" Id="R995180f15ce94d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central tension: adoption is accelerating, but the gains are not converging.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every chart is tied to a multi-dimensional analytical question rather than preliminary description.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three metrics to preview the full argument before showing the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must be updated with the final Streamlit Community Cloud URL after the repository is published.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 tension: faster adoption alone will not close the capability gap.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https://ec.europa.eu/eurostat/databrowser/view/isoc_eb_ai/default/table?lang=en</a:t>
            </a:r>
          </a:p>
          <a:p xmlns:a="http://schemas.openxmlformats.org/drawingml/2006/main">
            <a:r>
              <a:t>- https://ec.europa.eu/eurostat/databrowser/view/isoc_eb_ain2/default/table?lang=en</a:t>
            </a:r>
          </a:p>
          <a:p xmlns:a="http://schemas.openxmlformats.org/drawingml/2006/main">
            <a:r>
              <a:t>- https://ec.europa.eu/eurostat/statistics-explained/index.php?title=Use_of_artificial_intelligence_in_enterprises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f4349244747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f839beb4b843c4" /><Relationship Type="http://schemas.openxmlformats.org/officeDocument/2006/relationships/slideLayout" Target="/ppt/slideLayouts/slideLayout1.xml" Id="Ra6ae769905954b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ae769905954b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597e445eb45b3" /><Relationship Type="http://schemas.openxmlformats.org/officeDocument/2006/relationships/image" Target="/ppt/media/image.png" Id="R14bf5dfedb314cc9" /><Relationship Type="http://schemas.openxmlformats.org/officeDocument/2006/relationships/notesSlide" Target="/ppt/notesSlides/notesSlide1.xml" Id="Rf8b66dd8366246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e50d4488e4b9a" /><Relationship Type="http://schemas.openxmlformats.org/officeDocument/2006/relationships/notesSlide" Target="/ppt/notesSlides/notesSlide2.xml" Id="Rcb9837392d0b41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50a37f55345ff" /><Relationship Type="http://schemas.openxmlformats.org/officeDocument/2006/relationships/notesSlide" Target="/ppt/notesSlides/notesSlide3.xml" Id="R3dab641bd0b144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e40fa7ba848a7" /><Relationship Type="http://schemas.openxmlformats.org/officeDocument/2006/relationships/image" Target="/ppt/media/image2.png" Id="Rb1bd6e3526c84822" /><Relationship Type="http://schemas.openxmlformats.org/officeDocument/2006/relationships/notesSlide" Target="/ppt/notesSlides/notesSlide4.xml" Id="R5ce034721bfe4a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48363f3cf4e72" /><Relationship Type="http://schemas.openxmlformats.org/officeDocument/2006/relationships/image" Target="/ppt/media/image3.png" Id="R3ca5f36dd3574ffb" /><Relationship Type="http://schemas.openxmlformats.org/officeDocument/2006/relationships/notesSlide" Target="/ppt/notesSlides/notesSlide5.xml" Id="R3fd72f2616f84b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1bada6d18e4bb1" /><Relationship Type="http://schemas.openxmlformats.org/officeDocument/2006/relationships/image" Target="/ppt/media/image4.png" Id="R13db1d6eb0a845bf" /><Relationship Type="http://schemas.openxmlformats.org/officeDocument/2006/relationships/notesSlide" Target="/ppt/notesSlides/notesSlide6.xml" Id="R4d524dfa4b0d45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9b97e217a4b89" /><Relationship Type="http://schemas.openxmlformats.org/officeDocument/2006/relationships/image" Target="/ppt/media/image5.png" Id="R1b911a53ad234de6" /><Relationship Type="http://schemas.openxmlformats.org/officeDocument/2006/relationships/notesSlide" Target="/ppt/notesSlides/notesSlide7.xml" Id="R5eb0c2de162249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341c4acff464e" /><Relationship Type="http://schemas.openxmlformats.org/officeDocument/2006/relationships/image" Target="/ppt/media/image6.png" Id="R97323c11b2a24553" /><Relationship Type="http://schemas.openxmlformats.org/officeDocument/2006/relationships/notesSlide" Target="/ppt/notesSlides/notesSlide8.xml" Id="R107d2b90a3c84b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6263247d34046" /><Relationship Type="http://schemas.openxmlformats.org/officeDocument/2006/relationships/image" Target="/ppt/media/image7.png" Id="Ra7c0f8f780544461" /><Relationship Type="http://schemas.openxmlformats.org/officeDocument/2006/relationships/notesSlide" Target="/ppt/notesSlides/notesSlide9.xml" Id="R8cb64c88b74844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84b2eb0064c39" /><Relationship Type="http://schemas.openxmlformats.org/officeDocument/2006/relationships/image" Target="/ppt/media/image8.png" Id="Rc50f0521f4644454" /><Relationship Type="http://schemas.openxmlformats.org/officeDocument/2006/relationships/notesSlide" Target="/ppt/notesSlides/notesSlide10.xml" Id="Rf1cf8495ce0040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946c931054c30" /><Relationship Type="http://schemas.openxmlformats.org/officeDocument/2006/relationships/image" Target="/ppt/media/image9.png" Id="R6aa46fa096e841ab" /><Relationship Type="http://schemas.openxmlformats.org/officeDocument/2006/relationships/image" Target="/ppt/media/image10.png" Id="R8c8d0c19e24046f9" /><Relationship Type="http://schemas.openxmlformats.org/officeDocument/2006/relationships/notesSlide" Target="/ppt/notesSlides/notesSlide11.xml" Id="R5a05edbdd7644f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25cea113d4e11" /><Relationship Type="http://schemas.openxmlformats.org/officeDocument/2006/relationships/notesSlide" Target="/ppt/notesSlides/notesSlide12.xml" Id="R7abbedc61e19459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4D3E9BE-D481-41A3-9CAD-94405ED6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CAC7A1B-E2F9-43CB-A347-9FAA3CD9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DATA VISUALIZATION - SUMMER 2026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39C44AD9-FA01-47EA-A25D-45D66EB0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f5dfedb314cc9"/>
          <a:stretch xmlns:a="http://schemas.openxmlformats.org/drawingml/2006/main"/>
        </p:blipFill>
        <p:spPr>
          <a:xfrm xmlns:a="http://schemas.openxmlformats.org/drawingml/2006/main">
            <a:off x="6269069" y="1997170"/>
            <a:ext cx="5539740" cy="2400554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34F7BF47-6DD2-4EE3-B559-C2E5125F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Europe's AI
Adoption Gap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Who is pulling ahead, where smaller firms fall behind, and what stops businesses from adopting AI?
Usaid Aamer</a:t>
            </a:r>
          </a:p>
        </p:txBody>
      </p:sp>
    </p:spTree>
    <p:extLst>
      <p:ext uri="{BB962C8B-B14F-4D97-AF65-F5344CB8AC3E}">
        <p14:creationId xmlns:p14="http://schemas.microsoft.com/office/powerpoint/2010/main" val="5469029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7CBB518C-F9AA-49B2-89D7-A0ED4011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539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analysis follows one question through four layers</a:t>
            </a:r>
          </a:p>
        </p:txBody>
      </p:sp>
      <p:sp>
        <p:nvSpPr>
          <p:cNvPr id="2" name="central-question">
            <a:extLst xmlns:a="http://schemas.openxmlformats.org/drawingml/2006/main">
              <a:ext uri="{FF2B5EF4-FFF2-40B4-BE49-F238E27FC236}">
                <a16:creationId xmlns:a16="http://schemas.microsoft.com/office/drawing/2014/main" id="{EBA562C0-B672-4A4D-89DB-12BD28B6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5191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Can rapid AI adoption close Europe's business capability gap?</a:t>
            </a:r>
          </a:p>
        </p:txBody>
      </p:sp>
      <p:sp>
        <p:nvSpPr>
          <p:cNvPr id="3" name="data-scope">
            <a:extLst xmlns:a="http://schemas.openxmlformats.org/drawingml/2006/main">
              <a:ext uri="{FF2B5EF4-FFF2-40B4-BE49-F238E27FC236}">
                <a16:creationId xmlns:a16="http://schemas.microsoft.com/office/drawing/2014/main" id="{B179FE34-32A9-489B-9A9E-73FA1C61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Official Eurostat survey data</a:t>
            </a:r>
          </a:p>
          <a:p xmlns:a="http://schemas.openxmlformats.org/drawingml/2006/main">
            <a:pPr algn="l"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27 EU countries</a:t>
            </a:r>
          </a:p>
          <a:p xmlns:a="http://schemas.openxmlformats.org/drawingml/2006/main">
            <a:pPr algn="l"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2023-2025</a:t>
            </a:r>
          </a:p>
          <a:p xmlns:a="http://schemas.openxmlformats.org/drawingml/2006/main">
            <a:pPr algn="l">
              <a:defRPr sz="17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43,881 curated observations</a:t>
            </a:r>
          </a:p>
        </p:txBody>
      </p:sp>
      <p:sp>
        <p:nvSpPr>
          <p:cNvPr id="4" name="layer-number-01">
            <a:extLst xmlns:a="http://schemas.openxmlformats.org/drawingml/2006/main">
              <a:ext uri="{FF2B5EF4-FFF2-40B4-BE49-F238E27FC236}">
                <a16:creationId xmlns:a16="http://schemas.microsoft.com/office/drawing/2014/main" id="{D3E4F7FB-DDB3-4DBB-9159-55991FA7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layer-label-01">
            <a:extLst xmlns:a="http://schemas.openxmlformats.org/drawingml/2006/main">
              <a:ext uri="{FF2B5EF4-FFF2-40B4-BE49-F238E27FC236}">
                <a16:creationId xmlns:a16="http://schemas.microsoft.com/office/drawing/2014/main" id="{77A5321B-2451-4566-A065-CD9E2B30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3430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Pace</a:t>
            </a:r>
          </a:p>
        </p:txBody>
      </p:sp>
      <p:sp>
        <p:nvSpPr>
          <p:cNvPr id="6" name="layer-question-01">
            <a:extLst xmlns:a="http://schemas.openxmlformats.org/drawingml/2006/main">
              <a:ext uri="{FF2B5EF4-FFF2-40B4-BE49-F238E27FC236}">
                <a16:creationId xmlns:a16="http://schemas.microsoft.com/office/drawing/2014/main" id="{0796A61C-4753-48F7-8DE8-2EFDF5A6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430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How fast is adoption growing?</a:t>
            </a:r>
          </a:p>
        </p:txBody>
      </p:sp>
      <p:sp>
        <p:nvSpPr>
          <p:cNvPr id="7" name="layer-number-02">
            <a:extLst xmlns:a="http://schemas.openxmlformats.org/drawingml/2006/main">
              <a:ext uri="{FF2B5EF4-FFF2-40B4-BE49-F238E27FC236}">
                <a16:creationId xmlns:a16="http://schemas.microsoft.com/office/drawing/2014/main" id="{FE4221E5-87D2-42AA-B341-AFA07E2F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layer-label-02">
            <a:extLst xmlns:a="http://schemas.openxmlformats.org/drawingml/2006/main">
              <a:ext uri="{FF2B5EF4-FFF2-40B4-BE49-F238E27FC236}">
                <a16:creationId xmlns:a16="http://schemas.microsoft.com/office/drawing/2014/main" id="{5F2120C5-D13A-4512-92CF-83B49D5A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Divide</a:t>
            </a:r>
          </a:p>
        </p:txBody>
      </p:sp>
      <p:sp>
        <p:nvSpPr>
          <p:cNvPr id="9" name="layer-question-02">
            <a:extLst xmlns:a="http://schemas.openxmlformats.org/drawingml/2006/main">
              <a:ext uri="{FF2B5EF4-FFF2-40B4-BE49-F238E27FC236}">
                <a16:creationId xmlns:a16="http://schemas.microsoft.com/office/drawing/2014/main" id="{5233296C-32AD-44BA-AB6C-64BF4B9D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4322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Who is being left behind?</a:t>
            </a:r>
          </a:p>
        </p:txBody>
      </p:sp>
      <p:sp>
        <p:nvSpPr>
          <p:cNvPr id="10" name="layer-number-03">
            <a:extLst xmlns:a="http://schemas.openxmlformats.org/drawingml/2006/main">
              <a:ext uri="{FF2B5EF4-FFF2-40B4-BE49-F238E27FC236}">
                <a16:creationId xmlns:a16="http://schemas.microsoft.com/office/drawing/2014/main" id="{07A7C1C0-5571-4716-831D-BEC56AAC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8142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layer-label-03">
            <a:extLst xmlns:a="http://schemas.openxmlformats.org/drawingml/2006/main">
              <a:ext uri="{FF2B5EF4-FFF2-40B4-BE49-F238E27FC236}">
                <a16:creationId xmlns:a16="http://schemas.microsoft.com/office/drawing/2014/main" id="{08E72D8A-8F03-4F2C-BC3E-470FB10D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433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Depth</a:t>
            </a:r>
          </a:p>
        </p:txBody>
      </p:sp>
      <p:sp>
        <p:nvSpPr>
          <p:cNvPr id="12" name="layer-question-03">
            <a:extLst xmlns:a="http://schemas.openxmlformats.org/drawingml/2006/main">
              <a:ext uri="{FF2B5EF4-FFF2-40B4-BE49-F238E27FC236}">
                <a16:creationId xmlns:a16="http://schemas.microsoft.com/office/drawing/2014/main" id="{7E6CD6C3-B2A5-49B2-91C7-55764EA8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433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Are firms using one tool or a stack?</a:t>
            </a:r>
          </a:p>
        </p:txBody>
      </p:sp>
      <p:sp>
        <p:nvSpPr>
          <p:cNvPr id="13" name="layer-number-04">
            <a:extLst xmlns:a="http://schemas.openxmlformats.org/drawingml/2006/main">
              <a:ext uri="{FF2B5EF4-FFF2-40B4-BE49-F238E27FC236}">
                <a16:creationId xmlns:a16="http://schemas.microsoft.com/office/drawing/2014/main" id="{68B43EEE-9D72-45A2-85E6-84AB35B7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8157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layer-label-04">
            <a:extLst xmlns:a="http://schemas.openxmlformats.org/drawingml/2006/main">
              <a:ext uri="{FF2B5EF4-FFF2-40B4-BE49-F238E27FC236}">
                <a16:creationId xmlns:a16="http://schemas.microsoft.com/office/drawing/2014/main" id="{82BDEDFA-89DB-4346-A185-23C19BB8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4347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Blockers</a:t>
            </a:r>
          </a:p>
        </p:txBody>
      </p:sp>
      <p:sp>
        <p:nvSpPr>
          <p:cNvPr id="15" name="layer-question-04">
            <a:extLst xmlns:a="http://schemas.openxmlformats.org/drawingml/2006/main">
              <a:ext uri="{FF2B5EF4-FFF2-40B4-BE49-F238E27FC236}">
                <a16:creationId xmlns:a16="http://schemas.microsoft.com/office/drawing/2014/main" id="{6749976B-74D0-4934-8B91-7B12BB9C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4352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What prevents interested firms from adopting?</a:t>
            </a:r>
          </a:p>
        </p:txBody>
      </p:sp>
      <p:sp>
        <p:nvSpPr>
          <p:cNvPr id="16" name="source-2">
            <a:extLst xmlns:a="http://schemas.openxmlformats.org/drawingml/2006/main">
              <a:ext uri="{FF2B5EF4-FFF2-40B4-BE49-F238E27FC236}">
                <a16:creationId xmlns:a16="http://schemas.microsoft.com/office/drawing/2014/main" id="{6B365421-9DA8-4211-80E3-9534688A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tables: isoc_eb_ai and isoc_eb_ain2</a:t>
            </a:r>
          </a:p>
        </p:txBody>
      </p:sp>
      <p:sp>
        <p:nvSpPr>
          <p:cNvPr id="17" name="page-2">
            <a:extLst xmlns:a="http://schemas.openxmlformats.org/drawingml/2006/main">
              <a:ext uri="{FF2B5EF4-FFF2-40B4-BE49-F238E27FC236}">
                <a16:creationId xmlns:a16="http://schemas.microsoft.com/office/drawing/2014/main" id="{6A45616A-5129-4534-BB82-4982BB93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052285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528A17E8-DB9B-40ED-BEA9-B6066D72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7346464-C05B-4123-8C42-3288D3C4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5870438F-AD96-47F8-839E-30BE33A0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937A471-A148-44FD-97FA-6B2A9747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F716C0D8-1B63-49B8-B30A-FAC7B8E0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story in three numbers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9D66D099-9704-4F75-AC02-7034456D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EU firms using AI in 2025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70C8AF5-A4B6-43F9-B2A6-4628DD37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Interested non-users citing skills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D8AE63D2-7FDB-49F7-9290-AD83C121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Large-small adoption gap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9D83F080-DD8D-47FF-A755-F0A72803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20.0%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C982B01F-E72D-49ED-8B6D-64F544A8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38 pp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D41ADD6-7D0F-4098-AF55-E0A7D8A8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E69F00"/>
                </a:solidFill>
                <a:latin typeface="Arial"/>
                <a:ea typeface="Arial"/>
                <a:cs typeface="Arial"/>
              </a:rPr>
              <a:t>70.3%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9E50367E-BF18-4F82-8BB5-498E3E65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The central pattern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EU enterprise AI adoption hit 20% in 2025. But national, firm-size, and capability gaps remain wide.</a:t>
            </a:r>
          </a:p>
        </p:txBody>
      </p:sp>
    </p:spTree>
    <p:extLst>
      <p:ext uri="{BB962C8B-B14F-4D97-AF65-F5344CB8AC3E}">
        <p14:creationId xmlns:p14="http://schemas.microsoft.com/office/powerpoint/2010/main" val="2113152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B9F67288-C8AF-4C64-9FDB-2DCE0916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2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AI adoption surged, but large firms still lead by 38 points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d6e3526c84822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4">
            <a:extLst xmlns:a="http://schemas.openxmlformats.org/drawingml/2006/main">
              <a:ext uri="{FF2B5EF4-FFF2-40B4-BE49-F238E27FC236}">
                <a16:creationId xmlns:a16="http://schemas.microsoft.com/office/drawing/2014/main" id="{02F9D914-AC22-411F-9DEA-9DA30684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4-218">
            <a:extLst xmlns:a="http://schemas.openxmlformats.org/drawingml/2006/main">
              <a:ext uri="{FF2B5EF4-FFF2-40B4-BE49-F238E27FC236}">
                <a16:creationId xmlns:a16="http://schemas.microsoft.com/office/drawing/2014/main" id="{262B2B79-FCBF-4D8B-869E-CF175E47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55.0%</a:t>
            </a:r>
          </a:p>
        </p:txBody>
      </p:sp>
      <p:sp>
        <p:nvSpPr>
          <p:cNvPr id="5" name="stat-label-4-218">
            <a:extLst xmlns:a="http://schemas.openxmlformats.org/drawingml/2006/main">
              <a:ext uri="{FF2B5EF4-FFF2-40B4-BE49-F238E27FC236}">
                <a16:creationId xmlns:a16="http://schemas.microsoft.com/office/drawing/2014/main" id="{30FA81D1-E0B8-4D60-9F20-904FD8E1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Large firms using AI</a:t>
            </a:r>
          </a:p>
        </p:txBody>
      </p:sp>
      <p:sp>
        <p:nvSpPr>
          <p:cNvPr id="6" name="stat-4-360">
            <a:extLst xmlns:a="http://schemas.openxmlformats.org/drawingml/2006/main">
              <a:ext uri="{FF2B5EF4-FFF2-40B4-BE49-F238E27FC236}">
                <a16:creationId xmlns:a16="http://schemas.microsoft.com/office/drawing/2014/main" id="{523690D1-A489-4650-BF0E-9F37B92B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17.0%</a:t>
            </a:r>
          </a:p>
        </p:txBody>
      </p:sp>
      <p:sp>
        <p:nvSpPr>
          <p:cNvPr id="7" name="stat-label-4-360">
            <a:extLst xmlns:a="http://schemas.openxmlformats.org/drawingml/2006/main">
              <a:ext uri="{FF2B5EF4-FFF2-40B4-BE49-F238E27FC236}">
                <a16:creationId xmlns:a16="http://schemas.microsoft.com/office/drawing/2014/main" id="{BF43A559-D6D6-4970-AF32-1D693A5E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Small firms using AI</a:t>
            </a:r>
          </a:p>
        </p:txBody>
      </p:sp>
      <p:sp>
        <p:nvSpPr>
          <p:cNvPr id="8" name="takeaway-4">
            <a:extLst xmlns:a="http://schemas.openxmlformats.org/drawingml/2006/main">
              <a:ext uri="{FF2B5EF4-FFF2-40B4-BE49-F238E27FC236}">
                <a16:creationId xmlns:a16="http://schemas.microsoft.com/office/drawing/2014/main" id="{6F07A169-192E-485D-ACEC-CD84B7B7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Growth is broad, but it is not equal.</a:t>
            </a:r>
          </a:p>
        </p:txBody>
      </p:sp>
      <p:sp>
        <p:nvSpPr>
          <p:cNvPr id="9" name="source-4">
            <a:extLst xmlns:a="http://schemas.openxmlformats.org/drawingml/2006/main">
              <a:ext uri="{FF2B5EF4-FFF2-40B4-BE49-F238E27FC236}">
                <a16:creationId xmlns:a16="http://schemas.microsoft.com/office/drawing/2014/main" id="{4504707A-C651-4B35-B95B-C8B7BF9B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4">
            <a:extLst xmlns:a="http://schemas.openxmlformats.org/drawingml/2006/main">
              <a:ext uri="{FF2B5EF4-FFF2-40B4-BE49-F238E27FC236}">
                <a16:creationId xmlns:a16="http://schemas.microsoft.com/office/drawing/2014/main" id="{120C16DA-A221-44FB-AF53-E9E03C0C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55489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2E5391D0-73AC-43EC-8B20-C54AB78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684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Rapid growth has not closed the 37-point country divide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5f36dd3574ffb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5">
            <a:extLst xmlns:a="http://schemas.openxmlformats.org/drawingml/2006/main">
              <a:ext uri="{FF2B5EF4-FFF2-40B4-BE49-F238E27FC236}">
                <a16:creationId xmlns:a16="http://schemas.microsoft.com/office/drawing/2014/main" id="{7B68B7C7-7FD2-4C40-9E61-1B12FB40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5-218">
            <a:extLst xmlns:a="http://schemas.openxmlformats.org/drawingml/2006/main">
              <a:ext uri="{FF2B5EF4-FFF2-40B4-BE49-F238E27FC236}">
                <a16:creationId xmlns:a16="http://schemas.microsoft.com/office/drawing/2014/main" id="{6442690F-2739-47A0-B347-55098BE3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42.0%</a:t>
            </a:r>
          </a:p>
        </p:txBody>
      </p:sp>
      <p:sp>
        <p:nvSpPr>
          <p:cNvPr id="5" name="stat-label-5-218">
            <a:extLst xmlns:a="http://schemas.openxmlformats.org/drawingml/2006/main">
              <a:ext uri="{FF2B5EF4-FFF2-40B4-BE49-F238E27FC236}">
                <a16:creationId xmlns:a16="http://schemas.microsoft.com/office/drawing/2014/main" id="{3FCEA26A-9245-4C8F-B216-F7839DB0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Denmark, 2025</a:t>
            </a:r>
          </a:p>
        </p:txBody>
      </p:sp>
      <p:sp>
        <p:nvSpPr>
          <p:cNvPr id="6" name="stat-5-360">
            <a:extLst xmlns:a="http://schemas.openxmlformats.org/drawingml/2006/main">
              <a:ext uri="{FF2B5EF4-FFF2-40B4-BE49-F238E27FC236}">
                <a16:creationId xmlns:a16="http://schemas.microsoft.com/office/drawing/2014/main" id="{B63F34FD-FDC0-479E-8C7C-A8C664F2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5.2%</a:t>
            </a:r>
          </a:p>
        </p:txBody>
      </p:sp>
      <p:sp>
        <p:nvSpPr>
          <p:cNvPr id="7" name="stat-label-5-360">
            <a:extLst xmlns:a="http://schemas.openxmlformats.org/drawingml/2006/main">
              <a:ext uri="{FF2B5EF4-FFF2-40B4-BE49-F238E27FC236}">
                <a16:creationId xmlns:a16="http://schemas.microsoft.com/office/drawing/2014/main" id="{A985BA3E-9270-4801-B7C5-3BDC7B05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Romania, 2025</a:t>
            </a:r>
          </a:p>
        </p:txBody>
      </p:sp>
      <p:sp>
        <p:nvSpPr>
          <p:cNvPr id="8" name="takeaway-5">
            <a:extLst xmlns:a="http://schemas.openxmlformats.org/drawingml/2006/main">
              <a:ext uri="{FF2B5EF4-FFF2-40B4-BE49-F238E27FC236}">
                <a16:creationId xmlns:a16="http://schemas.microsoft.com/office/drawing/2014/main" id="{BDAF63EA-3874-48F9-860A-EB74D25C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Several leaders accelerated faster than the laggards.</a:t>
            </a:r>
          </a:p>
        </p:txBody>
      </p:sp>
      <p:sp>
        <p:nvSpPr>
          <p:cNvPr id="9" name="source-5">
            <a:extLst xmlns:a="http://schemas.openxmlformats.org/drawingml/2006/main">
              <a:ext uri="{FF2B5EF4-FFF2-40B4-BE49-F238E27FC236}">
                <a16:creationId xmlns:a16="http://schemas.microsoft.com/office/drawing/2014/main" id="{23A3E098-CAE3-427C-A0EF-3E0B1F2A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5">
            <a:extLst xmlns:a="http://schemas.openxmlformats.org/drawingml/2006/main">
              <a:ext uri="{FF2B5EF4-FFF2-40B4-BE49-F238E27FC236}">
                <a16:creationId xmlns:a16="http://schemas.microsoft.com/office/drawing/2014/main" id="{532E75C3-4D1C-4142-9CD1-8A66D3BD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411899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15658F2B-AAF4-4BFB-AE43-9DEB33E8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Firm size is Europe's most consistent AI fault line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b1d6eb0a845bf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6">
            <a:extLst xmlns:a="http://schemas.openxmlformats.org/drawingml/2006/main">
              <a:ext uri="{FF2B5EF4-FFF2-40B4-BE49-F238E27FC236}">
                <a16:creationId xmlns:a16="http://schemas.microsoft.com/office/drawing/2014/main" id="{8F6B2777-543C-4009-A9C4-87AE42E8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6-218">
            <a:extLst xmlns:a="http://schemas.openxmlformats.org/drawingml/2006/main">
              <a:ext uri="{FF2B5EF4-FFF2-40B4-BE49-F238E27FC236}">
                <a16:creationId xmlns:a16="http://schemas.microsoft.com/office/drawing/2014/main" id="{BBCDE29C-F702-4EDC-82FB-1ABC5638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53.5 pp</a:t>
            </a:r>
          </a:p>
        </p:txBody>
      </p:sp>
      <p:sp>
        <p:nvSpPr>
          <p:cNvPr id="5" name="stat-label-6-218">
            <a:extLst xmlns:a="http://schemas.openxmlformats.org/drawingml/2006/main">
              <a:ext uri="{FF2B5EF4-FFF2-40B4-BE49-F238E27FC236}">
                <a16:creationId xmlns:a16="http://schemas.microsoft.com/office/drawing/2014/main" id="{D59039B9-F098-4098-AD32-6F1EF120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Slovenia's large-small gap</a:t>
            </a:r>
          </a:p>
        </p:txBody>
      </p:sp>
      <p:sp>
        <p:nvSpPr>
          <p:cNvPr id="6" name="stat-6-360">
            <a:extLst xmlns:a="http://schemas.openxmlformats.org/drawingml/2006/main">
              <a:ext uri="{FF2B5EF4-FFF2-40B4-BE49-F238E27FC236}">
                <a16:creationId xmlns:a16="http://schemas.microsoft.com/office/drawing/2014/main" id="{C556164B-8A66-45D2-86AE-9A0C935D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E69F0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E69F00"/>
                </a:solidFill>
                <a:latin typeface="Arial"/>
                <a:ea typeface="Arial"/>
                <a:cs typeface="Arial"/>
              </a:rPr>
              <a:t>47.6 pp</a:t>
            </a:r>
          </a:p>
        </p:txBody>
      </p:sp>
      <p:sp>
        <p:nvSpPr>
          <p:cNvPr id="7" name="stat-label-6-360">
            <a:extLst xmlns:a="http://schemas.openxmlformats.org/drawingml/2006/main">
              <a:ext uri="{FF2B5EF4-FFF2-40B4-BE49-F238E27FC236}">
                <a16:creationId xmlns:a16="http://schemas.microsoft.com/office/drawing/2014/main" id="{70014A12-5DDE-4540-8A06-ED741F3B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Belgium's large-small gap</a:t>
            </a:r>
          </a:p>
        </p:txBody>
      </p:sp>
      <p:sp>
        <p:nvSpPr>
          <p:cNvPr id="8" name="takeaway-6">
            <a:extLst xmlns:a="http://schemas.openxmlformats.org/drawingml/2006/main">
              <a:ext uri="{FF2B5EF4-FFF2-40B4-BE49-F238E27FC236}">
                <a16:creationId xmlns:a16="http://schemas.microsoft.com/office/drawing/2014/main" id="{437BC3BF-3EA7-43AA-9BCA-2FCEA0B2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High national adoption does not guarantee equal access.</a:t>
            </a:r>
          </a:p>
        </p:txBody>
      </p:sp>
      <p:sp>
        <p:nvSpPr>
          <p:cNvPr id="9" name="source-6">
            <a:extLst xmlns:a="http://schemas.openxmlformats.org/drawingml/2006/main">
              <a:ext uri="{FF2B5EF4-FFF2-40B4-BE49-F238E27FC236}">
                <a16:creationId xmlns:a16="http://schemas.microsoft.com/office/drawing/2014/main" id="{A73C16BE-88C7-4A60-A8FC-23D456C6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6">
            <a:extLst xmlns:a="http://schemas.openxmlformats.org/drawingml/2006/main">
              <a:ext uri="{FF2B5EF4-FFF2-40B4-BE49-F238E27FC236}">
                <a16:creationId xmlns:a16="http://schemas.microsoft.com/office/drawing/2014/main" id="{B3715921-E87D-42AC-A05E-6C5A8B22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113887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3A4A5429-E8A6-4876-AAEB-5D9029CD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982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Information and communication reached 63%; construction stays near 11%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11a53ad234de6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7">
            <a:extLst xmlns:a="http://schemas.openxmlformats.org/drawingml/2006/main">
              <a:ext uri="{FF2B5EF4-FFF2-40B4-BE49-F238E27FC236}">
                <a16:creationId xmlns:a16="http://schemas.microsoft.com/office/drawing/2014/main" id="{5CAC84CE-0451-4869-8F59-839B3F64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7-218">
            <a:extLst xmlns:a="http://schemas.openxmlformats.org/drawingml/2006/main">
              <a:ext uri="{FF2B5EF4-FFF2-40B4-BE49-F238E27FC236}">
                <a16:creationId xmlns:a16="http://schemas.microsoft.com/office/drawing/2014/main" id="{EDB0CD9D-B495-4B57-AED6-BB5F8899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62.5%</a:t>
            </a:r>
          </a:p>
        </p:txBody>
      </p:sp>
      <p:sp>
        <p:nvSpPr>
          <p:cNvPr id="5" name="stat-label-7-218">
            <a:extLst xmlns:a="http://schemas.openxmlformats.org/drawingml/2006/main">
              <a:ext uri="{FF2B5EF4-FFF2-40B4-BE49-F238E27FC236}">
                <a16:creationId xmlns:a16="http://schemas.microsoft.com/office/drawing/2014/main" id="{8E4D6611-1632-4245-8BFB-9B150D0D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Information and communication</a:t>
            </a:r>
          </a:p>
        </p:txBody>
      </p:sp>
      <p:sp>
        <p:nvSpPr>
          <p:cNvPr id="6" name="stat-7-360">
            <a:extLst xmlns:a="http://schemas.openxmlformats.org/drawingml/2006/main">
              <a:ext uri="{FF2B5EF4-FFF2-40B4-BE49-F238E27FC236}">
                <a16:creationId xmlns:a16="http://schemas.microsoft.com/office/drawing/2014/main" id="{32A9439C-5263-47EC-B844-F8509CF6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10.8%</a:t>
            </a:r>
          </a:p>
        </p:txBody>
      </p:sp>
      <p:sp>
        <p:nvSpPr>
          <p:cNvPr id="7" name="stat-label-7-360">
            <a:extLst xmlns:a="http://schemas.openxmlformats.org/drawingml/2006/main">
              <a:ext uri="{FF2B5EF4-FFF2-40B4-BE49-F238E27FC236}">
                <a16:creationId xmlns:a16="http://schemas.microsoft.com/office/drawing/2014/main" id="{3D05D0D6-913E-4F59-BCF7-44482BBE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8" name="takeaway-7">
            <a:extLst xmlns:a="http://schemas.openxmlformats.org/drawingml/2006/main">
              <a:ext uri="{FF2B5EF4-FFF2-40B4-BE49-F238E27FC236}">
                <a16:creationId xmlns:a16="http://schemas.microsoft.com/office/drawing/2014/main" id="{6E27E4E8-5717-495F-A5EF-DEEF9762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Sector relevance and digital maturity shape the ceiling.</a:t>
            </a:r>
          </a:p>
        </p:txBody>
      </p:sp>
      <p:sp>
        <p:nvSpPr>
          <p:cNvPr id="9" name="source-7">
            <a:extLst xmlns:a="http://schemas.openxmlformats.org/drawingml/2006/main">
              <a:ext uri="{FF2B5EF4-FFF2-40B4-BE49-F238E27FC236}">
                <a16:creationId xmlns:a16="http://schemas.microsoft.com/office/drawing/2014/main" id="{4F19AD50-F8CD-4204-9BD1-8FEC4912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7">
            <a:extLst xmlns:a="http://schemas.openxmlformats.org/drawingml/2006/main">
              <a:ext uri="{FF2B5EF4-FFF2-40B4-BE49-F238E27FC236}">
                <a16:creationId xmlns:a16="http://schemas.microsoft.com/office/drawing/2014/main" id="{AE414B3E-272C-4F1F-9F18-2A2CC47E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25292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88537A47-1862-4A54-90EE-AA7B52E9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Large adopters build a broader AI technology stack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23c11b2a24553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8">
            <a:extLst xmlns:a="http://schemas.openxmlformats.org/drawingml/2006/main">
              <a:ext uri="{FF2B5EF4-FFF2-40B4-BE49-F238E27FC236}">
                <a16:creationId xmlns:a16="http://schemas.microsoft.com/office/drawing/2014/main" id="{5B313319-0C3A-42BA-9D64-577B9D3D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8-218">
            <a:extLst xmlns:a="http://schemas.openxmlformats.org/drawingml/2006/main">
              <a:ext uri="{FF2B5EF4-FFF2-40B4-BE49-F238E27FC236}">
                <a16:creationId xmlns:a16="http://schemas.microsoft.com/office/drawing/2014/main" id="{6E8CE3F7-89BA-4BDC-9E22-C7B3F0F4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45.5%</a:t>
            </a:r>
          </a:p>
        </p:txBody>
      </p:sp>
      <p:sp>
        <p:nvSpPr>
          <p:cNvPr id="5" name="stat-label-8-218">
            <a:extLst xmlns:a="http://schemas.openxmlformats.org/drawingml/2006/main">
              <a:ext uri="{FF2B5EF4-FFF2-40B4-BE49-F238E27FC236}">
                <a16:creationId xmlns:a16="http://schemas.microsoft.com/office/drawing/2014/main" id="{2187191C-151D-4FC4-90AD-CC31C338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28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Large adopters using machine learning</a:t>
            </a:r>
          </a:p>
        </p:txBody>
      </p:sp>
      <p:sp>
        <p:nvSpPr>
          <p:cNvPr id="6" name="stat-8-360">
            <a:extLst xmlns:a="http://schemas.openxmlformats.org/drawingml/2006/main">
              <a:ext uri="{FF2B5EF4-FFF2-40B4-BE49-F238E27FC236}">
                <a16:creationId xmlns:a16="http://schemas.microsoft.com/office/drawing/2014/main" id="{AFCDEC3C-25E8-4BF6-9C47-38F7E21C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22.4%</a:t>
            </a:r>
          </a:p>
        </p:txBody>
      </p:sp>
      <p:sp>
        <p:nvSpPr>
          <p:cNvPr id="7" name="stat-label-8-360">
            <a:extLst xmlns:a="http://schemas.openxmlformats.org/drawingml/2006/main">
              <a:ext uri="{FF2B5EF4-FFF2-40B4-BE49-F238E27FC236}">
                <a16:creationId xmlns:a16="http://schemas.microsoft.com/office/drawing/2014/main" id="{F3A61F89-8AED-4CA3-8593-82FF2704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6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Small adopters using machine learning</a:t>
            </a:r>
          </a:p>
        </p:txBody>
      </p:sp>
      <p:sp>
        <p:nvSpPr>
          <p:cNvPr id="8" name="takeaway-8">
            <a:extLst xmlns:a="http://schemas.openxmlformats.org/drawingml/2006/main">
              <a:ext uri="{FF2B5EF4-FFF2-40B4-BE49-F238E27FC236}">
                <a16:creationId xmlns:a16="http://schemas.microsoft.com/office/drawing/2014/main" id="{68C52BFA-8EAC-483C-BF2F-8E8334BA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gap is about capability depth, not just initial adoption.</a:t>
            </a:r>
          </a:p>
        </p:txBody>
      </p:sp>
      <p:sp>
        <p:nvSpPr>
          <p:cNvPr id="9" name="source-8">
            <a:extLst xmlns:a="http://schemas.openxmlformats.org/drawingml/2006/main">
              <a:ext uri="{FF2B5EF4-FFF2-40B4-BE49-F238E27FC236}">
                <a16:creationId xmlns:a16="http://schemas.microsoft.com/office/drawing/2014/main" id="{BA2AD709-3F71-434F-A05C-D79C31F7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8">
            <a:extLst xmlns:a="http://schemas.openxmlformats.org/drawingml/2006/main">
              <a:ext uri="{FF2B5EF4-FFF2-40B4-BE49-F238E27FC236}">
                <a16:creationId xmlns:a16="http://schemas.microsoft.com/office/drawing/2014/main" id="{0B6BF6EA-C6DF-49F2-B527-55EC0ACF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45668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5946F6EA-E6B3-4BCD-8214-EA644C42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There is no universal AI playbook across sectors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0f8f780544461"/>
          <a:stretch xmlns:a="http://schemas.openxmlformats.org/drawingml/2006/main"/>
        </p:blipFill>
        <p:spPr>
          <a:xfrm xmlns:a="http://schemas.openxmlformats.org/drawingml/2006/main">
            <a:off x="400050" y="1246505"/>
            <a:ext cx="11391900" cy="4936490"/>
          </a:xfrm>
          <a:prstGeom xmlns:a="http://schemas.openxmlformats.org/drawingml/2006/main" prst="rect">
            <a:avLst/>
          </a:prstGeom>
        </p:spPr>
      </p:pic>
      <p:sp>
        <p:nvSpPr>
          <p:cNvPr id="3" name="source-9">
            <a:extLst xmlns:a="http://schemas.openxmlformats.org/drawingml/2006/main">
              <a:ext uri="{FF2B5EF4-FFF2-40B4-BE49-F238E27FC236}">
                <a16:creationId xmlns:a16="http://schemas.microsoft.com/office/drawing/2014/main" id="{E2BC11AD-CEE9-43D3-88D3-2D15B3B7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48A06FAD-97C2-450D-887A-E89C9BDC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981228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FC1D71C7-296C-43D9-8A84-31746681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Skills - not cost - are the dominant AI blocker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f0521f4644454"/>
          <a:stretch xmlns:a="http://schemas.openxmlformats.org/drawingml/2006/main"/>
        </p:blipFill>
        <p:spPr>
          <a:xfrm xmlns:a="http://schemas.openxmlformats.org/drawingml/2006/main">
            <a:off x="400050" y="1993900"/>
            <a:ext cx="7810500" cy="3384550"/>
          </a:xfrm>
          <a:prstGeom xmlns:a="http://schemas.openxmlformats.org/drawingml/2006/main" prst="rect">
            <a:avLst/>
          </a:prstGeom>
        </p:spPr>
      </p:pic>
      <p:sp>
        <p:nvSpPr>
          <p:cNvPr id="3" name="rail-header-10">
            <a:extLst xmlns:a="http://schemas.openxmlformats.org/drawingml/2006/main">
              <a:ext uri="{FF2B5EF4-FFF2-40B4-BE49-F238E27FC236}">
                <a16:creationId xmlns:a16="http://schemas.microsoft.com/office/drawing/2014/main" id="{29B2BD2E-F5FA-4931-82C7-206E997B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What the chart means</a:t>
            </a:r>
          </a:p>
        </p:txBody>
      </p:sp>
      <p:sp>
        <p:nvSpPr>
          <p:cNvPr id="4" name="stat-10-218">
            <a:extLst xmlns:a="http://schemas.openxmlformats.org/drawingml/2006/main">
              <a:ext uri="{FF2B5EF4-FFF2-40B4-BE49-F238E27FC236}">
                <a16:creationId xmlns:a16="http://schemas.microsoft.com/office/drawing/2014/main" id="{20869031-7E4B-416A-BA7D-F694B3DD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E69F0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E69F00"/>
                </a:solidFill>
                <a:latin typeface="Arial"/>
                <a:ea typeface="Arial"/>
                <a:cs typeface="Arial"/>
              </a:rPr>
              <a:t>70.3%</a:t>
            </a:r>
          </a:p>
        </p:txBody>
      </p:sp>
      <p:sp>
        <p:nvSpPr>
          <p:cNvPr id="5" name="stat-label-10-218">
            <a:extLst xmlns:a="http://schemas.openxmlformats.org/drawingml/2006/main">
              <a:ext uri="{FF2B5EF4-FFF2-40B4-BE49-F238E27FC236}">
                <a16:creationId xmlns:a16="http://schemas.microsoft.com/office/drawing/2014/main" id="{0FE2CE34-B94D-4D61-9962-5B84BFB5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051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Cite a lack of expertise</a:t>
            </a:r>
          </a:p>
        </p:txBody>
      </p:sp>
      <p:sp>
        <p:nvSpPr>
          <p:cNvPr id="6" name="stat-10-360">
            <a:extLst xmlns:a="http://schemas.openxmlformats.org/drawingml/2006/main">
              <a:ext uri="{FF2B5EF4-FFF2-40B4-BE49-F238E27FC236}">
                <a16:creationId xmlns:a16="http://schemas.microsoft.com/office/drawing/2014/main" id="{5F8625C3-26DC-4D98-A60A-A4BB291B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#6</a:t>
            </a:r>
          </a:p>
        </p:txBody>
      </p:sp>
      <p:sp>
        <p:nvSpPr>
          <p:cNvPr id="7" name="stat-label-10-360">
            <a:extLst xmlns:a="http://schemas.openxmlformats.org/drawingml/2006/main">
              <a:ext uri="{FF2B5EF4-FFF2-40B4-BE49-F238E27FC236}">
                <a16:creationId xmlns:a16="http://schemas.microsoft.com/office/drawing/2014/main" id="{6C4591DB-EEB1-4C6C-985E-61968574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576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Cost's rank among eight barriers</a:t>
            </a:r>
          </a:p>
        </p:txBody>
      </p:sp>
      <p:sp>
        <p:nvSpPr>
          <p:cNvPr id="8" name="takeaway-10">
            <a:extLst xmlns:a="http://schemas.openxmlformats.org/drawingml/2006/main">
              <a:ext uri="{FF2B5EF4-FFF2-40B4-BE49-F238E27FC236}">
                <a16:creationId xmlns:a16="http://schemas.microsoft.com/office/drawing/2014/main" id="{F8C52DC6-F5C9-4755-B33D-CA508F48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Implementation capability and governance matter more than cheaper tools alone.</a:t>
            </a:r>
          </a:p>
        </p:txBody>
      </p:sp>
      <p:sp>
        <p:nvSpPr>
          <p:cNvPr id="9" name="source-10">
            <a:extLst xmlns:a="http://schemas.openxmlformats.org/drawingml/2006/main">
              <a:ext uri="{FF2B5EF4-FFF2-40B4-BE49-F238E27FC236}">
                <a16:creationId xmlns:a16="http://schemas.microsoft.com/office/drawing/2014/main" id="{47FFCBA8-FFBB-41FE-B7E0-5E90BE99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10" name="page-10">
            <a:extLst xmlns:a="http://schemas.openxmlformats.org/drawingml/2006/main">
              <a:ext uri="{FF2B5EF4-FFF2-40B4-BE49-F238E27FC236}">
                <a16:creationId xmlns:a16="http://schemas.microsoft.com/office/drawing/2014/main" id="{0B242025-4570-4681-8952-66C38ED6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22289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C73AE711-E8D9-43C7-A39E-85747D42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63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dashboard turns the story into a guided exploration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46fa096e841ab"/>
          <a:stretch xmlns:a="http://schemas.openxmlformats.org/drawingml/2006/main"/>
        </p:blipFill>
        <p:spPr>
          <a:xfrm xmlns:a="http://schemas.openxmlformats.org/drawingml/2006/main">
            <a:off x="400050" y="1557338"/>
            <a:ext cx="5429250" cy="2352675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d0c19e24046f9"/>
          <a:stretch xmlns:a="http://schemas.openxmlformats.org/drawingml/2006/main"/>
        </p:blipFill>
        <p:spPr>
          <a:xfrm xmlns:a="http://schemas.openxmlformats.org/drawingml/2006/main">
            <a:off x="6362700" y="1557338"/>
            <a:ext cx="5429250" cy="2352675"/>
          </a:xfrm>
          <a:prstGeom xmlns:a="http://schemas.openxmlformats.org/drawingml/2006/main" prst="rect">
            <a:avLst/>
          </a:prstGeom>
        </p:spPr>
      </p:pic>
      <p:sp>
        <p:nvSpPr>
          <p:cNvPr id="4" name="dashboard-features">
            <a:extLst xmlns:a="http://schemas.openxmlformats.org/drawingml/2006/main">
              <a:ext uri="{FF2B5EF4-FFF2-40B4-BE49-F238E27FC236}">
                <a16:creationId xmlns:a16="http://schemas.microsoft.com/office/drawing/2014/main" id="{A707D2B5-6AF6-4BDD-8467-65151DAF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Five tabs - year filter - country selector - sector and purpose explorer</a:t>
            </a:r>
          </a:p>
        </p:txBody>
      </p:sp>
      <p:sp>
        <p:nvSpPr>
          <p:cNvPr id="5" name="github-link">
            <a:extLst xmlns:a="http://schemas.openxmlformats.org/drawingml/2006/main">
              <a:ext uri="{FF2B5EF4-FFF2-40B4-BE49-F238E27FC236}">
                <a16:creationId xmlns:a16="http://schemas.microsoft.com/office/drawing/2014/main" id="{86A8F817-EAD4-4AC2-8EB3-6C14830A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72B2"/>
                </a:solidFill>
                <a:latin typeface="Arial"/>
                <a:ea typeface="Arial"/>
                <a:cs typeface="Arial"/>
              </a:rPr>
              <a:t>GitHub: https://github.com/Heizenberg143/eu-ai-adoption-gap</a:t>
            </a:r>
          </a:p>
        </p:txBody>
      </p:sp>
      <p:sp>
        <p:nvSpPr>
          <p:cNvPr id="6" name="dashboard-link-placeholder">
            <a:extLst xmlns:a="http://schemas.openxmlformats.org/drawingml/2006/main">
              <a:ext uri="{FF2B5EF4-FFF2-40B4-BE49-F238E27FC236}">
                <a16:creationId xmlns:a16="http://schemas.microsoft.com/office/drawing/2014/main" id="{3F832954-A7E8-4D87-8517-6F6021F1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38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9F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69F00"/>
                </a:solidFill>
                <a:latin typeface="Arial"/>
                <a:ea typeface="Arial"/>
                <a:cs typeface="Arial"/>
              </a:rPr>
              <a:t>Live dashboard: add Streamlit Community Cloud URL after deployment</a:t>
            </a:r>
          </a:p>
        </p:txBody>
      </p:sp>
      <p:sp>
        <p:nvSpPr>
          <p:cNvPr id="7" name="source-11">
            <a:extLst xmlns:a="http://schemas.openxmlformats.org/drawingml/2006/main">
              <a:ext uri="{FF2B5EF4-FFF2-40B4-BE49-F238E27FC236}">
                <a16:creationId xmlns:a16="http://schemas.microsoft.com/office/drawing/2014/main" id="{B338C8D5-1161-489B-AAC8-FA60C875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Eurostat - enterprise ICT survey, 2023-2025</a:t>
            </a:r>
          </a:p>
        </p:txBody>
      </p:sp>
      <p:sp>
        <p:nvSpPr>
          <p:cNvPr id="8" name="page-11">
            <a:extLst xmlns:a="http://schemas.openxmlformats.org/drawingml/2006/main">
              <a:ext uri="{FF2B5EF4-FFF2-40B4-BE49-F238E27FC236}">
                <a16:creationId xmlns:a16="http://schemas.microsoft.com/office/drawing/2014/main" id="{327AD473-D54E-4483-A137-F978F547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438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4647900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22F7560D-F19E-4192-B628-958516E9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Acceleration
without convergence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95D19FF-0E03-4B8E-A50A-7F171923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Build implementation capability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Reduce governance uncertainty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Strengthen cloud and data foundations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4A34AAB-D94B-4AEE-AE0D-CEBC4416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039398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2026-07-24T22:39:04.3990000Z</dcterms:created>
  <dcterms:modified xsi:type="dcterms:W3CDTF">2026-07-24T22:39:04.3990000Z</dcterms:modified>
</coreProperties>
</file>